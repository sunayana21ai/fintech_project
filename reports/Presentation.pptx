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3" r:id="rId9"/>
    <p:sldId id="265" r:id="rId1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-1162" y="-23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CD5D19-666C-420B-B7DA-CE0639795B37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016093-5524-4C0E-A58F-67CE8C1DF6B3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F016093-5524-4C0E-A58F-67CE8C1DF6B3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2286000" y="3124200"/>
            <a:ext cx="6172200" cy="1894362"/>
          </a:xfrm>
        </p:spPr>
        <p:txBody>
          <a:bodyPr/>
          <a:lstStyle>
            <a:lvl1pPr>
              <a:defRPr b="1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2286000" y="5003322"/>
            <a:ext cx="6172200" cy="1371600"/>
          </a:xfrm>
        </p:spPr>
        <p:txBody>
          <a:bodyPr/>
          <a:lstStyle>
            <a:lvl1pPr marL="0" indent="0" algn="l">
              <a:buNone/>
              <a:defRPr sz="1800" b="1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 bwMode="auto">
          <a:xfrm rot="5400000">
            <a:off x="7764621" y="1174097"/>
            <a:ext cx="2286000" cy="381000"/>
          </a:xfrm>
        </p:spPr>
        <p:txBody>
          <a:bodyPr/>
          <a:lstStyle/>
          <a:p>
            <a:fld id="{D9C8B1AA-D486-4B6C-8C35-7A001614DAD6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 bwMode="auto">
          <a:xfrm rot="5400000">
            <a:off x="7077269" y="4181669"/>
            <a:ext cx="3657600" cy="384048"/>
          </a:xfrm>
        </p:spPr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 bwMode="auto">
          <a:xfrm>
            <a:off x="381000" y="0"/>
            <a:ext cx="609600" cy="6858000"/>
          </a:xfrm>
          <a:prstGeom prst="rect">
            <a:avLst/>
          </a:prstGeom>
          <a:solidFill>
            <a:schemeClr val="accent1">
              <a:tint val="60000"/>
              <a:alpha val="54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 bwMode="auto">
          <a:xfrm>
            <a:off x="276336" y="0"/>
            <a:ext cx="104664" cy="6858000"/>
          </a:xfrm>
          <a:prstGeom prst="rect">
            <a:avLst/>
          </a:prstGeom>
          <a:solidFill>
            <a:schemeClr val="accent1">
              <a:tint val="40000"/>
              <a:alpha val="36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4" name="Rectangle 13"/>
          <p:cNvSpPr/>
          <p:nvPr/>
        </p:nvSpPr>
        <p:spPr bwMode="auto">
          <a:xfrm>
            <a:off x="990600" y="0"/>
            <a:ext cx="181872" cy="6858000"/>
          </a:xfrm>
          <a:prstGeom prst="rect">
            <a:avLst/>
          </a:prstGeom>
          <a:solidFill>
            <a:schemeClr val="accent1">
              <a:tint val="40000"/>
              <a:alpha val="7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9" name="Rectangle 18"/>
          <p:cNvSpPr/>
          <p:nvPr/>
        </p:nvSpPr>
        <p:spPr bwMode="auto">
          <a:xfrm>
            <a:off x="1141320" y="0"/>
            <a:ext cx="230280" cy="6858000"/>
          </a:xfrm>
          <a:prstGeom prst="rect">
            <a:avLst/>
          </a:prstGeom>
          <a:solidFill>
            <a:schemeClr val="accent1">
              <a:tint val="20000"/>
              <a:alpha val="7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Straight Connector 10"/>
          <p:cNvSpPr>
            <a:spLocks noChangeShapeType="1"/>
          </p:cNvSpPr>
          <p:nvPr/>
        </p:nvSpPr>
        <p:spPr bwMode="auto">
          <a:xfrm>
            <a:off x="106344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  <a:alpha val="7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8" name="Straight Connector 17"/>
          <p:cNvSpPr>
            <a:spLocks noChangeShapeType="1"/>
          </p:cNvSpPr>
          <p:nvPr/>
        </p:nvSpPr>
        <p:spPr bwMode="auto">
          <a:xfrm>
            <a:off x="914400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20000"/>
                <a:alpha val="8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0" name="Straight Connector 19"/>
          <p:cNvSpPr>
            <a:spLocks noChangeShapeType="1"/>
          </p:cNvSpPr>
          <p:nvPr/>
        </p:nvSpPr>
        <p:spPr bwMode="auto">
          <a:xfrm>
            <a:off x="854112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6" name="Straight Connector 15"/>
          <p:cNvSpPr>
            <a:spLocks noChangeShapeType="1"/>
          </p:cNvSpPr>
          <p:nvPr/>
        </p:nvSpPr>
        <p:spPr bwMode="auto">
          <a:xfrm>
            <a:off x="1726640" y="0"/>
            <a:ext cx="0" cy="6858000"/>
          </a:xfrm>
          <a:prstGeom prst="line">
            <a:avLst/>
          </a:prstGeom>
          <a:noFill/>
          <a:ln w="28575" cap="flat" cmpd="sng" algn="ctr">
            <a:solidFill>
              <a:schemeClr val="accent1">
                <a:tint val="60000"/>
                <a:alpha val="82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5" name="Straight Connector 14"/>
          <p:cNvSpPr>
            <a:spLocks noChangeShapeType="1"/>
          </p:cNvSpPr>
          <p:nvPr/>
        </p:nvSpPr>
        <p:spPr bwMode="auto">
          <a:xfrm>
            <a:off x="10668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2" name="Straight Connector 21"/>
          <p:cNvSpPr>
            <a:spLocks noChangeShapeType="1"/>
          </p:cNvSpPr>
          <p:nvPr/>
        </p:nvSpPr>
        <p:spPr bwMode="auto">
          <a:xfrm>
            <a:off x="9113856" y="0"/>
            <a:ext cx="0" cy="68580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7" name="Rectangle 26"/>
          <p:cNvSpPr/>
          <p:nvPr/>
        </p:nvSpPr>
        <p:spPr bwMode="auto">
          <a:xfrm>
            <a:off x="1219200" y="0"/>
            <a:ext cx="76200" cy="6858000"/>
          </a:xfrm>
          <a:prstGeom prst="rect">
            <a:avLst/>
          </a:prstGeom>
          <a:solidFill>
            <a:schemeClr val="accent1">
              <a:tint val="60000"/>
              <a:alpha val="5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1" name="Oval 20"/>
          <p:cNvSpPr/>
          <p:nvPr/>
        </p:nvSpPr>
        <p:spPr bwMode="auto">
          <a:xfrm>
            <a:off x="609600" y="3429000"/>
            <a:ext cx="1295400" cy="1295400"/>
          </a:xfrm>
          <a:prstGeom prst="ellipse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3" name="Oval 22"/>
          <p:cNvSpPr/>
          <p:nvPr/>
        </p:nvSpPr>
        <p:spPr bwMode="auto">
          <a:xfrm>
            <a:off x="1309632" y="4866752"/>
            <a:ext cx="641424" cy="641424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4" name="Oval 23"/>
          <p:cNvSpPr/>
          <p:nvPr/>
        </p:nvSpPr>
        <p:spPr bwMode="auto">
          <a:xfrm>
            <a:off x="1091080" y="5500632"/>
            <a:ext cx="137160" cy="13716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6" name="Oval 25"/>
          <p:cNvSpPr/>
          <p:nvPr/>
        </p:nvSpPr>
        <p:spPr bwMode="auto">
          <a:xfrm>
            <a:off x="1664208" y="5788152"/>
            <a:ext cx="274320" cy="27432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5" name="Oval 24"/>
          <p:cNvSpPr/>
          <p:nvPr/>
        </p:nvSpPr>
        <p:spPr>
          <a:xfrm>
            <a:off x="1905000" y="4495800"/>
            <a:ext cx="365760" cy="365760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 bwMode="auto">
          <a:xfrm>
            <a:off x="1325544" y="4928702"/>
            <a:ext cx="609600" cy="517524"/>
          </a:xfrm>
        </p:spPr>
        <p:txBody>
          <a:bodyPr/>
          <a:lstStyle/>
          <a:p>
            <a:fld id="{03889E28-5972-41D7-8165-D2545B77021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7467600" cy="4873752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fld id="{D9C8B1AA-D486-4B6C-8C35-7A001614DAD6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fld id="{03889E28-5972-41D7-8165-D2545B77021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0" y="2895600"/>
            <a:ext cx="6172200" cy="2053590"/>
          </a:xfrm>
        </p:spPr>
        <p:txBody>
          <a:bodyPr/>
          <a:lstStyle>
            <a:lvl1pPr algn="l">
              <a:buNone/>
              <a:defRPr sz="3000" b="1" cap="small" baseline="0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0" y="5010150"/>
            <a:ext cx="6172200" cy="1371600"/>
          </a:xfrm>
        </p:spPr>
        <p:txBody>
          <a:bodyPr anchor="t"/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auto">
          <a:xfrm rot="5400000">
            <a:off x="7763256" y="1170432"/>
            <a:ext cx="2286000" cy="381000"/>
          </a:xfrm>
        </p:spPr>
        <p:txBody>
          <a:bodyPr/>
          <a:lstStyle/>
          <a:p>
            <a:fld id="{D9C8B1AA-D486-4B6C-8C35-7A001614DAD6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auto">
          <a:xfrm rot="5400000">
            <a:off x="7077456" y="4178808"/>
            <a:ext cx="3657600" cy="384048"/>
          </a:xfrm>
        </p:spPr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 bwMode="auto">
          <a:xfrm>
            <a:off x="381000" y="0"/>
            <a:ext cx="609600" cy="6858000"/>
          </a:xfrm>
          <a:prstGeom prst="rect">
            <a:avLst/>
          </a:prstGeom>
          <a:solidFill>
            <a:schemeClr val="accent1">
              <a:tint val="60000"/>
              <a:alpha val="54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 bwMode="auto">
          <a:xfrm>
            <a:off x="276336" y="0"/>
            <a:ext cx="104664" cy="6858000"/>
          </a:xfrm>
          <a:prstGeom prst="rect">
            <a:avLst/>
          </a:prstGeom>
          <a:solidFill>
            <a:schemeClr val="accent1">
              <a:tint val="40000"/>
              <a:alpha val="36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Rectangle 10"/>
          <p:cNvSpPr/>
          <p:nvPr/>
        </p:nvSpPr>
        <p:spPr bwMode="auto">
          <a:xfrm>
            <a:off x="990600" y="0"/>
            <a:ext cx="181872" cy="6858000"/>
          </a:xfrm>
          <a:prstGeom prst="rect">
            <a:avLst/>
          </a:prstGeom>
          <a:solidFill>
            <a:schemeClr val="accent1">
              <a:tint val="40000"/>
              <a:alpha val="7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Rectangle 11"/>
          <p:cNvSpPr/>
          <p:nvPr/>
        </p:nvSpPr>
        <p:spPr bwMode="auto">
          <a:xfrm>
            <a:off x="1141320" y="0"/>
            <a:ext cx="230280" cy="6858000"/>
          </a:xfrm>
          <a:prstGeom prst="rect">
            <a:avLst/>
          </a:prstGeom>
          <a:solidFill>
            <a:schemeClr val="accent1">
              <a:tint val="20000"/>
              <a:alpha val="7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Straight Connector 12"/>
          <p:cNvSpPr>
            <a:spLocks noChangeShapeType="1"/>
          </p:cNvSpPr>
          <p:nvPr/>
        </p:nvSpPr>
        <p:spPr bwMode="auto">
          <a:xfrm>
            <a:off x="106344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  <a:alpha val="7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4" name="Straight Connector 13"/>
          <p:cNvSpPr>
            <a:spLocks noChangeShapeType="1"/>
          </p:cNvSpPr>
          <p:nvPr/>
        </p:nvSpPr>
        <p:spPr bwMode="auto">
          <a:xfrm>
            <a:off x="914400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20000"/>
                <a:alpha val="8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5" name="Straight Connector 14"/>
          <p:cNvSpPr>
            <a:spLocks noChangeShapeType="1"/>
          </p:cNvSpPr>
          <p:nvPr/>
        </p:nvSpPr>
        <p:spPr bwMode="auto">
          <a:xfrm>
            <a:off x="854112" y="0"/>
            <a:ext cx="0" cy="6858000"/>
          </a:xfrm>
          <a:prstGeom prst="line">
            <a:avLst/>
          </a:prstGeom>
          <a:noFill/>
          <a:ln w="5715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6" name="Straight Connector 15"/>
          <p:cNvSpPr>
            <a:spLocks noChangeShapeType="1"/>
          </p:cNvSpPr>
          <p:nvPr/>
        </p:nvSpPr>
        <p:spPr bwMode="auto">
          <a:xfrm>
            <a:off x="1726640" y="0"/>
            <a:ext cx="0" cy="6858000"/>
          </a:xfrm>
          <a:prstGeom prst="line">
            <a:avLst/>
          </a:prstGeom>
          <a:noFill/>
          <a:ln w="28575" cap="flat" cmpd="sng" algn="ctr">
            <a:solidFill>
              <a:schemeClr val="accent1">
                <a:tint val="60000"/>
                <a:alpha val="82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7" name="Straight Connector 16"/>
          <p:cNvSpPr>
            <a:spLocks noChangeShapeType="1"/>
          </p:cNvSpPr>
          <p:nvPr/>
        </p:nvSpPr>
        <p:spPr bwMode="auto">
          <a:xfrm>
            <a:off x="10668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8" name="Rectangle 17"/>
          <p:cNvSpPr/>
          <p:nvPr/>
        </p:nvSpPr>
        <p:spPr bwMode="auto">
          <a:xfrm>
            <a:off x="1219200" y="0"/>
            <a:ext cx="76200" cy="6858000"/>
          </a:xfrm>
          <a:prstGeom prst="rect">
            <a:avLst/>
          </a:prstGeom>
          <a:solidFill>
            <a:schemeClr val="accent1">
              <a:tint val="60000"/>
              <a:alpha val="51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19" name="Oval 18"/>
          <p:cNvSpPr/>
          <p:nvPr/>
        </p:nvSpPr>
        <p:spPr bwMode="auto">
          <a:xfrm>
            <a:off x="609600" y="3429000"/>
            <a:ext cx="1295400" cy="129540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0" name="Oval 19"/>
          <p:cNvSpPr/>
          <p:nvPr/>
        </p:nvSpPr>
        <p:spPr bwMode="auto">
          <a:xfrm>
            <a:off x="1324704" y="4866752"/>
            <a:ext cx="641424" cy="641424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1" name="Oval 20"/>
          <p:cNvSpPr/>
          <p:nvPr/>
        </p:nvSpPr>
        <p:spPr bwMode="auto">
          <a:xfrm>
            <a:off x="1091080" y="5500632"/>
            <a:ext cx="137160" cy="13716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2" name="Oval 21"/>
          <p:cNvSpPr/>
          <p:nvPr/>
        </p:nvSpPr>
        <p:spPr bwMode="auto">
          <a:xfrm>
            <a:off x="1664208" y="5791200"/>
            <a:ext cx="274320" cy="274320"/>
          </a:xfrm>
          <a:prstGeom prst="ellipse">
            <a:avLst/>
          </a:prstGeom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3" name="Oval 22"/>
          <p:cNvSpPr/>
          <p:nvPr/>
        </p:nvSpPr>
        <p:spPr bwMode="auto">
          <a:xfrm>
            <a:off x="1879040" y="4479888"/>
            <a:ext cx="365760" cy="365760"/>
          </a:xfrm>
          <a:prstGeom prst="ellipse">
            <a:avLst/>
          </a:prstGeom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6" name="Straight Connector 25"/>
          <p:cNvSpPr>
            <a:spLocks noChangeShapeType="1"/>
          </p:cNvSpPr>
          <p:nvPr/>
        </p:nvSpPr>
        <p:spPr bwMode="auto">
          <a:xfrm>
            <a:off x="9097944" y="0"/>
            <a:ext cx="0" cy="68580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340616" y="4928702"/>
            <a:ext cx="609600" cy="517524"/>
          </a:xfrm>
        </p:spPr>
        <p:txBody>
          <a:bodyPr/>
          <a:lstStyle/>
          <a:p>
            <a:fld id="{03889E28-5972-41D7-8165-D2545B77021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C8B1AA-D486-4B6C-8C35-7A001614DAD6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9E28-5972-41D7-8165-D2545B77021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600200"/>
            <a:ext cx="3657600" cy="45720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270248" y="1600200"/>
            <a:ext cx="3657600" cy="45720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7543800" cy="1143000"/>
          </a:xfrm>
        </p:spPr>
        <p:txBody>
          <a:bodyPr anchor="b"/>
          <a:lstStyle>
            <a:lvl1pPr>
              <a:defRPr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C8B1AA-D486-4B6C-8C35-7A001614DAD6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9E28-5972-41D7-8165-D2545B77021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362200"/>
            <a:ext cx="3657600" cy="38862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371975" y="2362200"/>
            <a:ext cx="3657600" cy="3886200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"/>
          </p:nvPr>
        </p:nvSpPr>
        <p:spPr>
          <a:xfrm>
            <a:off x="457200" y="1569720"/>
            <a:ext cx="3657600" cy="65836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</p:spPr>
        <p:txBody>
          <a:bodyPr rtlCol="0" anchor="ctr">
            <a:noAutofit/>
          </a:bodyPr>
          <a:lstStyle>
            <a:lvl1pPr marL="0" indent="0">
              <a:buFontTx/>
              <a:buNone/>
              <a:defRPr sz="2000" b="1">
                <a:solidFill>
                  <a:srgbClr val="FFFFFF"/>
                </a:solidFill>
              </a:defRPr>
            </a:lvl1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3"/>
          </p:nvPr>
        </p:nvSpPr>
        <p:spPr>
          <a:xfrm>
            <a:off x="4343400" y="1569720"/>
            <a:ext cx="3657600" cy="65836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</p:spPr>
        <p:txBody>
          <a:bodyPr rtlCol="0" anchor="ctr">
            <a:noAutofit/>
          </a:bodyPr>
          <a:lstStyle>
            <a:lvl1pPr marL="0" indent="0">
              <a:buFontTx/>
              <a:buNone/>
              <a:defRPr sz="2000" b="1">
                <a:solidFill>
                  <a:srgbClr val="FFFFFF"/>
                </a:solidFill>
              </a:defRPr>
            </a:lvl1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fld id="{D9C8B1AA-D486-4B6C-8C35-7A001614DAD6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fld id="{03889E28-5972-41D7-8165-D2545B77021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C8B1AA-D486-4B6C-8C35-7A001614DAD6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9E28-5972-41D7-8165-D2545B77021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traight Connector 9"/>
          <p:cNvSpPr>
            <a:spLocks noChangeShapeType="1"/>
          </p:cNvSpPr>
          <p:nvPr/>
        </p:nvSpPr>
        <p:spPr bwMode="auto">
          <a:xfrm>
            <a:off x="87630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  <a:alpha val="9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5400000">
            <a:off x="3371850" y="3200400"/>
            <a:ext cx="6309360" cy="457200"/>
          </a:xfrm>
        </p:spPr>
        <p:txBody>
          <a:bodyPr anchor="b"/>
          <a:lstStyle>
            <a:lvl1pPr algn="l">
              <a:buNone/>
              <a:defRPr sz="2000" b="1" cap="small" baseline="0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812280" y="274320"/>
            <a:ext cx="1527048" cy="4983480"/>
          </a:xfrm>
        </p:spPr>
        <p:txBody>
          <a:bodyPr/>
          <a:lstStyle>
            <a:lvl1pPr marL="0" indent="0">
              <a:spcBef>
                <a:spcPts val="400"/>
              </a:spcBef>
              <a:spcAft>
                <a:spcPts val="1000"/>
              </a:spcAft>
              <a:buNone/>
              <a:defRPr sz="12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2484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6192296" y="0"/>
            <a:ext cx="0" cy="6858000"/>
          </a:xfrm>
          <a:prstGeom prst="lin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11" name="Straight Connector 10"/>
          <p:cNvSpPr>
            <a:spLocks noChangeShapeType="1"/>
          </p:cNvSpPr>
          <p:nvPr/>
        </p:nvSpPr>
        <p:spPr bwMode="auto">
          <a:xfrm>
            <a:off x="8991600" y="0"/>
            <a:ext cx="0" cy="6858000"/>
          </a:xfrm>
          <a:prstGeom prst="line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Rectangle 11"/>
          <p:cNvSpPr/>
          <p:nvPr/>
        </p:nvSpPr>
        <p:spPr bwMode="auto">
          <a:xfrm>
            <a:off x="8839200" y="0"/>
            <a:ext cx="304800" cy="6858000"/>
          </a:xfrm>
          <a:prstGeom prst="rect">
            <a:avLst/>
          </a:prstGeom>
          <a:solidFill>
            <a:schemeClr val="accent1">
              <a:tint val="60000"/>
              <a:alpha val="87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Straight Connector 12"/>
          <p:cNvSpPr>
            <a:spLocks noChangeShapeType="1"/>
          </p:cNvSpPr>
          <p:nvPr/>
        </p:nvSpPr>
        <p:spPr bwMode="auto">
          <a:xfrm>
            <a:off x="89154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4" name="Oval 13"/>
          <p:cNvSpPr/>
          <p:nvPr/>
        </p:nvSpPr>
        <p:spPr>
          <a:xfrm>
            <a:off x="8156448" y="5715000"/>
            <a:ext cx="548640" cy="54864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18" name="Content Placeholder 17"/>
          <p:cNvSpPr>
            <a:spLocks noGrp="1"/>
          </p:cNvSpPr>
          <p:nvPr>
            <p:ph sz="quarter" idx="1"/>
          </p:nvPr>
        </p:nvSpPr>
        <p:spPr>
          <a:xfrm>
            <a:off x="304800" y="274320"/>
            <a:ext cx="5638800" cy="6327648"/>
          </a:xfrm>
        </p:spPr>
        <p:txBody>
          <a:bodyPr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21" name="Date Placeholder 20"/>
          <p:cNvSpPr>
            <a:spLocks noGrp="1"/>
          </p:cNvSpPr>
          <p:nvPr>
            <p:ph type="dt" sz="half" idx="14"/>
          </p:nvPr>
        </p:nvSpPr>
        <p:spPr/>
        <p:txBody>
          <a:bodyPr rtlCol="0"/>
          <a:lstStyle/>
          <a:p>
            <a:fld id="{D9C8B1AA-D486-4B6C-8C35-7A001614DAD6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fld id="{03889E28-5972-41D7-8165-D2545B77021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87630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3" name="Oval 12"/>
          <p:cNvSpPr/>
          <p:nvPr/>
        </p:nvSpPr>
        <p:spPr>
          <a:xfrm>
            <a:off x="8156448" y="5715000"/>
            <a:ext cx="548640" cy="54864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5400000">
            <a:off x="3350133" y="3200400"/>
            <a:ext cx="6309360" cy="45720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6172200" cy="6858000"/>
          </a:xfrm>
          <a:solidFill>
            <a:schemeClr val="bg2"/>
          </a:solidFill>
          <a:ln w="1270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lstStyle>
            <a:lvl1pPr marL="0" indent="0">
              <a:buNone/>
              <a:defRPr sz="3200"/>
            </a:lvl1pPr>
          </a:lstStyle>
          <a:p>
            <a:pPr algn="ctr" eaLnBrk="1" latinLnBrk="0" hangingPunct="1">
              <a:buFontTx/>
              <a:buNone/>
            </a:pPr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5798" y="264795"/>
            <a:ext cx="1524000" cy="4956048"/>
          </a:xfrm>
        </p:spPr>
        <p:txBody>
          <a:bodyPr rot="0" spcFirstLastPara="0" vertOverflow="overflow" horzOverflow="overflow" vert="horz" wrap="square" lIns="91440" tIns="45720" rIns="91440" bIns="45720" numCol="1" spcCol="274320" rtlCol="0" fromWordArt="0" anchor="t" anchorCtr="0" forceAA="0" compatLnSpc="1">
            <a:normAutofit/>
          </a:bodyPr>
          <a:lstStyle>
            <a:lvl1pPr marL="0" indent="0">
              <a:spcBef>
                <a:spcPts val="100"/>
              </a:spcBef>
              <a:spcAft>
                <a:spcPts val="400"/>
              </a:spcAft>
              <a:buFontTx/>
              <a:buNone/>
              <a:defRPr sz="12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>
            <a:off x="89916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1" name="Rectangle 10"/>
          <p:cNvSpPr/>
          <p:nvPr/>
        </p:nvSpPr>
        <p:spPr bwMode="auto">
          <a:xfrm>
            <a:off x="8839200" y="0"/>
            <a:ext cx="304800" cy="6858000"/>
          </a:xfrm>
          <a:prstGeom prst="rect">
            <a:avLst/>
          </a:prstGeom>
          <a:solidFill>
            <a:schemeClr val="accent1">
              <a:tint val="60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Straight Connector 11"/>
          <p:cNvSpPr>
            <a:spLocks noChangeShapeType="1"/>
          </p:cNvSpPr>
          <p:nvPr/>
        </p:nvSpPr>
        <p:spPr bwMode="auto">
          <a:xfrm>
            <a:off x="89154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9" name="Straight Connector 18"/>
          <p:cNvSpPr>
            <a:spLocks noChangeShapeType="1"/>
          </p:cNvSpPr>
          <p:nvPr/>
        </p:nvSpPr>
        <p:spPr bwMode="auto">
          <a:xfrm>
            <a:off x="62484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0" name="Straight Connector 19"/>
          <p:cNvSpPr>
            <a:spLocks noChangeShapeType="1"/>
          </p:cNvSpPr>
          <p:nvPr/>
        </p:nvSpPr>
        <p:spPr bwMode="auto">
          <a:xfrm>
            <a:off x="6192296" y="0"/>
            <a:ext cx="0" cy="6858000"/>
          </a:xfrm>
          <a:prstGeom prst="line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17" name="Date Placeholder 1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fld id="{D9C8B1AA-D486-4B6C-8C35-7A001614DAD6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fld id="{03889E28-5972-41D7-8165-D2545B77021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C8B1AA-D486-4B6C-8C35-7A001614DAD6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9E28-5972-41D7-8165-D2545B77021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1676400" cy="5851525"/>
          </a:xfrm>
        </p:spPr>
        <p:txBody>
          <a:bodyPr vert="eaVert"/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C8B1AA-D486-4B6C-8C35-7A001614DAD6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889E28-5972-41D7-8165-D2545B77021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traight Connector 15"/>
          <p:cNvSpPr>
            <a:spLocks noChangeShapeType="1"/>
          </p:cNvSpPr>
          <p:nvPr/>
        </p:nvSpPr>
        <p:spPr bwMode="auto">
          <a:xfrm>
            <a:off x="8763000" y="0"/>
            <a:ext cx="0" cy="6858000"/>
          </a:xfrm>
          <a:prstGeom prst="line">
            <a:avLst/>
          </a:prstGeom>
          <a:noFill/>
          <a:ln w="38100" cap="flat" cmpd="sng" algn="ctr">
            <a:solidFill>
              <a:schemeClr val="accent1">
                <a:tint val="60000"/>
                <a:alpha val="93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467600" cy="1143000"/>
          </a:xfrm>
          <a:prstGeom prst="rect">
            <a:avLst/>
          </a:prstGeom>
        </p:spPr>
        <p:txBody>
          <a:bodyPr vert="horz" anchor="b">
            <a:normAutofit/>
          </a:bodyPr>
          <a:lstStyle/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467600" cy="4873752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 rot="5400000">
            <a:off x="7589520" y="1081851"/>
            <a:ext cx="2011680" cy="384048"/>
          </a:xfrm>
          <a:prstGeom prst="rect">
            <a:avLst/>
          </a:prstGeom>
        </p:spPr>
        <p:txBody>
          <a:bodyPr vert="horz" anchor="ctr" anchorCtr="0"/>
          <a:lstStyle>
            <a:lvl1pPr algn="r" eaLnBrk="1" latinLnBrk="0" hangingPunct="1">
              <a:defRPr kumimoji="0" sz="1200">
                <a:solidFill>
                  <a:schemeClr val="tx2"/>
                </a:solidFill>
              </a:defRPr>
            </a:lvl1pPr>
          </a:lstStyle>
          <a:p>
            <a:fld id="{D9C8B1AA-D486-4B6C-8C35-7A001614DAD6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 rot="5400000">
            <a:off x="6990186" y="3737240"/>
            <a:ext cx="3200400" cy="365760"/>
          </a:xfrm>
          <a:prstGeom prst="rect">
            <a:avLst/>
          </a:prstGeom>
        </p:spPr>
        <p:txBody>
          <a:bodyPr vert="horz" anchor="ctr" anchorCtr="0"/>
          <a:lstStyle>
            <a:lvl1pPr algn="l" eaLnBrk="1" latinLnBrk="0" hangingPunct="1">
              <a:defRPr kumimoji="0" sz="12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76200" y="0"/>
            <a:ext cx="0" cy="6858000"/>
          </a:xfrm>
          <a:prstGeom prst="line">
            <a:avLst/>
          </a:prstGeom>
          <a:noFill/>
          <a:ln w="57150" cap="flat" cmpd="thickThin" algn="ctr">
            <a:solidFill>
              <a:schemeClr val="accent1">
                <a:tint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8991600" y="0"/>
            <a:ext cx="0" cy="6858000"/>
          </a:xfrm>
          <a:prstGeom prst="line">
            <a:avLst/>
          </a:prstGeom>
          <a:noFill/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Rectangle 9"/>
          <p:cNvSpPr/>
          <p:nvPr/>
        </p:nvSpPr>
        <p:spPr bwMode="auto">
          <a:xfrm>
            <a:off x="8839200" y="0"/>
            <a:ext cx="304800" cy="6858000"/>
          </a:xfrm>
          <a:prstGeom prst="rect">
            <a:avLst/>
          </a:prstGeom>
          <a:solidFill>
            <a:schemeClr val="accent1">
              <a:tint val="60000"/>
              <a:alpha val="87000"/>
            </a:scheme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Straight Connector 10"/>
          <p:cNvSpPr>
            <a:spLocks noChangeShapeType="1"/>
          </p:cNvSpPr>
          <p:nvPr/>
        </p:nvSpPr>
        <p:spPr bwMode="auto">
          <a:xfrm>
            <a:off x="8915400" y="0"/>
            <a:ext cx="0" cy="6858000"/>
          </a:xfrm>
          <a:prstGeom prst="lin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Oval 11"/>
          <p:cNvSpPr/>
          <p:nvPr/>
        </p:nvSpPr>
        <p:spPr>
          <a:xfrm>
            <a:off x="8156448" y="5715000"/>
            <a:ext cx="548640" cy="548640"/>
          </a:xfrm>
          <a:prstGeom prst="ellipse">
            <a:avLst/>
          </a:prstGeom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dirty="0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29016" y="5734050"/>
            <a:ext cx="609600" cy="521208"/>
          </a:xfrm>
          <a:prstGeom prst="rect">
            <a:avLst/>
          </a:prstGeom>
        </p:spPr>
        <p:txBody>
          <a:bodyPr vert="horz" anchor="ctr"/>
          <a:lstStyle>
            <a:lvl1pPr algn="ctr" eaLnBrk="1" latinLnBrk="0" hangingPunct="1">
              <a:defRPr kumimoji="0" sz="1400" b="1">
                <a:solidFill>
                  <a:srgbClr val="FFFFFF"/>
                </a:solidFill>
              </a:defRPr>
            </a:lvl1pPr>
          </a:lstStyle>
          <a:p>
            <a:fld id="{03889E28-5972-41D7-8165-D2545B77021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rtl="0" eaLnBrk="1" latinLnBrk="0" hangingPunct="1">
        <a:spcBef>
          <a:spcPct val="0"/>
        </a:spcBef>
        <a:buNone/>
        <a:defRPr kumimoji="0" sz="3000" b="0" kern="1200" cap="sm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0000"/>
        <a:buFont typeface="Wingdings"/>
        <a:buChar char="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74320" algn="l" rtl="0" eaLnBrk="1" latinLnBrk="0" hangingPunct="1">
        <a:spcBef>
          <a:spcPct val="20000"/>
        </a:spcBef>
        <a:buClr>
          <a:schemeClr val="accent1"/>
        </a:buClr>
        <a:buSzPct val="80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SzPct val="60000"/>
        <a:buFont typeface="Wingdings"/>
        <a:buChar char="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182880" algn="l" rtl="0" eaLnBrk="1" latinLnBrk="0" hangingPunct="1">
        <a:spcBef>
          <a:spcPct val="20000"/>
        </a:spcBef>
        <a:buClr>
          <a:schemeClr val="accent1">
            <a:tint val="60000"/>
          </a:schemeClr>
        </a:buClr>
        <a:buSzPct val="60000"/>
        <a:buFont typeface="Wingdings"/>
        <a:buChar char="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182880" algn="l" rtl="0" eaLnBrk="1" latinLnBrk="0" hangingPunct="1">
        <a:spcBef>
          <a:spcPct val="20000"/>
        </a:spcBef>
        <a:buClr>
          <a:schemeClr val="accent2">
            <a:tint val="60000"/>
          </a:schemeClr>
        </a:buClr>
        <a:buSzPct val="68000"/>
        <a:buFont typeface="Wingdings 2"/>
        <a:buChar char="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rtl="0" eaLnBrk="1" latinLnBrk="0" hangingPunct="1">
        <a:spcBef>
          <a:spcPct val="20000"/>
        </a:spcBef>
        <a:buClr>
          <a:schemeClr val="accent1"/>
        </a:buClr>
        <a:buChar char="•"/>
        <a:defRPr kumimoji="0" sz="1600" kern="1200">
          <a:solidFill>
            <a:schemeClr val="tx2"/>
          </a:solidFill>
          <a:latin typeface="+mn-lt"/>
          <a:ea typeface="+mn-ea"/>
          <a:cs typeface="+mn-cs"/>
        </a:defRPr>
      </a:lvl6pPr>
      <a:lvl7pPr marL="2011680" indent="-182880" algn="l" rtl="0" eaLnBrk="1" latinLnBrk="0" hangingPunct="1">
        <a:spcBef>
          <a:spcPct val="20000"/>
        </a:spcBef>
        <a:buClr>
          <a:schemeClr val="accent1">
            <a:tint val="60000"/>
          </a:schemeClr>
        </a:buClr>
        <a:buSzPct val="60000"/>
        <a:buFont typeface="Wingdings"/>
        <a:buChar char="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2286000" indent="-182880" algn="l" rtl="0" eaLnBrk="1" latinLnBrk="0" hangingPunct="1">
        <a:spcBef>
          <a:spcPct val="20000"/>
        </a:spcBef>
        <a:buClr>
          <a:schemeClr val="accent2"/>
        </a:buClr>
        <a:buChar char="•"/>
        <a:defRPr kumimoji="0" sz="1400" kern="1200" cap="small" baseline="0">
          <a:solidFill>
            <a:schemeClr val="tx2"/>
          </a:solidFill>
          <a:latin typeface="+mn-lt"/>
          <a:ea typeface="+mn-ea"/>
          <a:cs typeface="+mn-cs"/>
        </a:defRPr>
      </a:lvl8pPr>
      <a:lvl9pPr marL="256032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Char char="•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 smtClean="0"/>
              <a:t>Bluestock</a:t>
            </a:r>
            <a:r>
              <a:rPr lang="en-US" dirty="0" smtClean="0"/>
              <a:t> Mutual Fund Analytics Project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Submitted By:</a:t>
            </a:r>
            <a:br>
              <a:rPr lang="en-US" dirty="0" smtClean="0"/>
            </a:br>
            <a:r>
              <a:rPr lang="en-US" dirty="0" err="1" smtClean="0"/>
              <a:t>Sunayana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467600" cy="778098"/>
          </a:xfrm>
        </p:spPr>
        <p:txBody>
          <a:bodyPr/>
          <a:lstStyle/>
          <a:p>
            <a:r>
              <a:rPr lang="en-US" dirty="0" smtClean="0"/>
              <a:t>Project Overview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457200" y="1124744"/>
            <a:ext cx="7467600" cy="5349208"/>
          </a:xfrm>
        </p:spPr>
        <p:txBody>
          <a:bodyPr>
            <a:normAutofit fontScale="55000" lnSpcReduction="20000"/>
          </a:bodyPr>
          <a:lstStyle/>
          <a:p>
            <a:pPr algn="just">
              <a:lnSpc>
                <a:spcPct val="170000"/>
              </a:lnSpc>
              <a:buNone/>
            </a:pPr>
            <a:r>
              <a:rPr lang="en-US" sz="2500" b="1" dirty="0" smtClean="0"/>
              <a:t>Objective</a:t>
            </a:r>
          </a:p>
          <a:p>
            <a:pPr algn="just">
              <a:lnSpc>
                <a:spcPct val="170000"/>
              </a:lnSpc>
            </a:pPr>
            <a:r>
              <a:rPr lang="en-US" sz="2500" dirty="0" smtClean="0"/>
              <a:t>Analyze Indian Mutual Fund Industry </a:t>
            </a:r>
          </a:p>
          <a:p>
            <a:pPr algn="just">
              <a:lnSpc>
                <a:spcPct val="170000"/>
              </a:lnSpc>
            </a:pPr>
            <a:r>
              <a:rPr lang="en-US" sz="2500" dirty="0" smtClean="0"/>
              <a:t>Study SIP growth and AUM trends </a:t>
            </a:r>
          </a:p>
          <a:p>
            <a:pPr algn="just">
              <a:lnSpc>
                <a:spcPct val="170000"/>
              </a:lnSpc>
            </a:pPr>
            <a:r>
              <a:rPr lang="en-US" sz="2500" dirty="0" smtClean="0"/>
              <a:t>Evaluate fund performance using risk metrics </a:t>
            </a:r>
          </a:p>
          <a:p>
            <a:pPr algn="just">
              <a:lnSpc>
                <a:spcPct val="170000"/>
              </a:lnSpc>
            </a:pPr>
            <a:r>
              <a:rPr lang="en-US" sz="2500" dirty="0" smtClean="0"/>
              <a:t>Build interactive Power BI dashboard</a:t>
            </a:r>
          </a:p>
          <a:p>
            <a:pPr algn="just">
              <a:lnSpc>
                <a:spcPct val="170000"/>
              </a:lnSpc>
              <a:buNone/>
            </a:pPr>
            <a:r>
              <a:rPr lang="en-US" sz="2500" b="1" dirty="0" smtClean="0"/>
              <a:t>Datasets Used</a:t>
            </a:r>
          </a:p>
          <a:p>
            <a:pPr algn="just">
              <a:lnSpc>
                <a:spcPct val="170000"/>
              </a:lnSpc>
            </a:pPr>
            <a:r>
              <a:rPr lang="en-US" sz="2500" dirty="0" smtClean="0"/>
              <a:t>Fund Master </a:t>
            </a:r>
          </a:p>
          <a:p>
            <a:pPr algn="just">
              <a:lnSpc>
                <a:spcPct val="170000"/>
              </a:lnSpc>
            </a:pPr>
            <a:r>
              <a:rPr lang="en-US" sz="2500" dirty="0" smtClean="0"/>
              <a:t>NAV History </a:t>
            </a:r>
          </a:p>
          <a:p>
            <a:pPr algn="just">
              <a:lnSpc>
                <a:spcPct val="170000"/>
              </a:lnSpc>
            </a:pPr>
            <a:r>
              <a:rPr lang="en-US" sz="2500" dirty="0" smtClean="0"/>
              <a:t>AUM Data </a:t>
            </a:r>
          </a:p>
          <a:p>
            <a:pPr algn="just">
              <a:lnSpc>
                <a:spcPct val="170000"/>
              </a:lnSpc>
            </a:pPr>
            <a:r>
              <a:rPr lang="en-US" sz="2500" dirty="0" smtClean="0"/>
              <a:t>SIP Inflows </a:t>
            </a:r>
          </a:p>
          <a:p>
            <a:pPr algn="just">
              <a:lnSpc>
                <a:spcPct val="170000"/>
              </a:lnSpc>
            </a:pPr>
            <a:r>
              <a:rPr lang="en-US" sz="2500" dirty="0" smtClean="0"/>
              <a:t>Investor Transactions </a:t>
            </a:r>
          </a:p>
          <a:p>
            <a:pPr algn="just">
              <a:lnSpc>
                <a:spcPct val="170000"/>
              </a:lnSpc>
            </a:pPr>
            <a:r>
              <a:rPr lang="en-US" sz="2500" dirty="0" smtClean="0"/>
              <a:t>Portfolio Holdings </a:t>
            </a:r>
          </a:p>
          <a:p>
            <a:pPr algn="just">
              <a:lnSpc>
                <a:spcPct val="170000"/>
              </a:lnSpc>
            </a:pPr>
            <a:r>
              <a:rPr lang="en-US" sz="2500" dirty="0" smtClean="0"/>
              <a:t>Benchmark Indices</a:t>
            </a:r>
          </a:p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544" y="260648"/>
            <a:ext cx="7467600" cy="1008112"/>
          </a:xfrm>
        </p:spPr>
        <p:txBody>
          <a:bodyPr/>
          <a:lstStyle/>
          <a:p>
            <a:r>
              <a:rPr lang="en-US" dirty="0" smtClean="0"/>
              <a:t>Data Pipeline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457200" y="1412776"/>
            <a:ext cx="7467600" cy="5061176"/>
          </a:xfrm>
        </p:spPr>
        <p:txBody>
          <a:bodyPr numCol="1">
            <a:normAutofit fontScale="92500" lnSpcReduction="20000"/>
          </a:bodyPr>
          <a:lstStyle/>
          <a:p>
            <a:pPr algn="r">
              <a:buNone/>
            </a:pPr>
            <a:r>
              <a:rPr lang="en-US" sz="1400" dirty="0" smtClean="0"/>
              <a:t>Raw CSV </a:t>
            </a:r>
            <a:r>
              <a:rPr lang="en-US" sz="1400" dirty="0" smtClean="0"/>
              <a:t>Files</a:t>
            </a:r>
          </a:p>
          <a:p>
            <a:pPr algn="r">
              <a:buNone/>
            </a:pPr>
            <a:r>
              <a:rPr lang="en-US" sz="1400" dirty="0" smtClean="0"/>
              <a:t>      ↓   </a:t>
            </a:r>
          </a:p>
          <a:p>
            <a:pPr algn="r">
              <a:buNone/>
            </a:pPr>
            <a:r>
              <a:rPr lang="en-US" sz="1400" dirty="0" smtClean="0"/>
              <a:t>Data </a:t>
            </a:r>
            <a:r>
              <a:rPr lang="en-US" sz="1400" dirty="0" smtClean="0"/>
              <a:t>Cleaning &amp; Validation</a:t>
            </a:r>
          </a:p>
          <a:p>
            <a:pPr algn="r">
              <a:buNone/>
            </a:pPr>
            <a:r>
              <a:rPr lang="en-US" sz="1400" dirty="0" smtClean="0"/>
              <a:t>      ↓</a:t>
            </a:r>
          </a:p>
          <a:p>
            <a:pPr algn="r">
              <a:buNone/>
            </a:pPr>
            <a:r>
              <a:rPr lang="en-US" sz="1400" dirty="0" err="1" smtClean="0"/>
              <a:t>SQLite</a:t>
            </a:r>
            <a:r>
              <a:rPr lang="en-US" sz="1400" dirty="0" smtClean="0"/>
              <a:t> Database</a:t>
            </a:r>
          </a:p>
          <a:p>
            <a:pPr algn="r">
              <a:buNone/>
            </a:pPr>
            <a:r>
              <a:rPr lang="en-US" sz="1400" dirty="0" smtClean="0"/>
              <a:t>      ↓</a:t>
            </a:r>
          </a:p>
          <a:p>
            <a:pPr algn="r">
              <a:buNone/>
            </a:pPr>
            <a:r>
              <a:rPr lang="en-US" sz="1400" dirty="0" smtClean="0"/>
              <a:t>Exploratory Data Analysis</a:t>
            </a:r>
          </a:p>
          <a:p>
            <a:pPr algn="r">
              <a:buNone/>
            </a:pPr>
            <a:r>
              <a:rPr lang="en-US" sz="1400" dirty="0" smtClean="0"/>
              <a:t>      ↓</a:t>
            </a:r>
          </a:p>
          <a:p>
            <a:pPr algn="r">
              <a:buNone/>
            </a:pPr>
            <a:r>
              <a:rPr lang="en-US" sz="1400" dirty="0" smtClean="0"/>
              <a:t>Performance Analytics</a:t>
            </a:r>
          </a:p>
          <a:p>
            <a:pPr algn="r">
              <a:buNone/>
            </a:pPr>
            <a:r>
              <a:rPr lang="en-US" sz="1400" dirty="0" smtClean="0"/>
              <a:t>      ↓</a:t>
            </a:r>
          </a:p>
          <a:p>
            <a:pPr algn="r">
              <a:buNone/>
            </a:pPr>
            <a:r>
              <a:rPr lang="en-US" sz="1400" dirty="0" smtClean="0"/>
              <a:t>Advanced Risk Analytics</a:t>
            </a:r>
          </a:p>
          <a:p>
            <a:pPr algn="r">
              <a:buNone/>
            </a:pPr>
            <a:r>
              <a:rPr lang="en-US" sz="1400" dirty="0" smtClean="0"/>
              <a:t>      ↓</a:t>
            </a:r>
          </a:p>
          <a:p>
            <a:pPr algn="r">
              <a:buNone/>
            </a:pPr>
            <a:r>
              <a:rPr lang="en-US" sz="1400" dirty="0" smtClean="0"/>
              <a:t>Power BI Dashboard</a:t>
            </a:r>
          </a:p>
          <a:p>
            <a:pPr algn="r">
              <a:buNone/>
            </a:pPr>
            <a:r>
              <a:rPr lang="en-US" sz="1400" dirty="0" smtClean="0"/>
              <a:t>      ↓</a:t>
            </a:r>
          </a:p>
          <a:p>
            <a:pPr algn="r">
              <a:buNone/>
            </a:pPr>
            <a:r>
              <a:rPr lang="en-US" sz="1400" dirty="0" smtClean="0"/>
              <a:t>Business Insights</a:t>
            </a:r>
          </a:p>
          <a:p>
            <a:pPr>
              <a:buNone/>
            </a:pPr>
            <a:r>
              <a:rPr lang="en-US" sz="1400" b="1" dirty="0" smtClean="0"/>
              <a:t>Tools Used</a:t>
            </a:r>
          </a:p>
          <a:p>
            <a:r>
              <a:rPr lang="en-US" sz="1400" dirty="0" smtClean="0"/>
              <a:t>Python for ETL </a:t>
            </a:r>
          </a:p>
          <a:p>
            <a:r>
              <a:rPr lang="en-US" sz="1400" dirty="0" err="1" smtClean="0"/>
              <a:t>SQLite</a:t>
            </a:r>
            <a:r>
              <a:rPr lang="en-US" sz="1400" dirty="0" smtClean="0"/>
              <a:t> for storage </a:t>
            </a:r>
          </a:p>
          <a:p>
            <a:r>
              <a:rPr lang="en-US" sz="1400" dirty="0" err="1" smtClean="0"/>
              <a:t>Jupyter</a:t>
            </a:r>
            <a:r>
              <a:rPr lang="en-US" sz="1400" dirty="0" smtClean="0"/>
              <a:t> Notebook for analysis </a:t>
            </a:r>
          </a:p>
          <a:p>
            <a:r>
              <a:rPr lang="en-US" sz="1400" dirty="0" smtClean="0"/>
              <a:t>Power BI for visualization</a:t>
            </a:r>
          </a:p>
          <a:p>
            <a:pPr>
              <a:buNone/>
            </a:pPr>
            <a:endParaRPr lang="en-US" sz="1400" dirty="0"/>
          </a:p>
        </p:txBody>
      </p:sp>
      <p:pic>
        <p:nvPicPr>
          <p:cNvPr id="4" name="Picture 3" descr="Screenshot 2026-06-10 234325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83568" y="1484784"/>
            <a:ext cx="2736304" cy="32403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88640"/>
            <a:ext cx="7467600" cy="864096"/>
          </a:xfrm>
        </p:spPr>
        <p:txBody>
          <a:bodyPr/>
          <a:lstStyle/>
          <a:p>
            <a:r>
              <a:rPr lang="en-US" dirty="0" smtClean="0"/>
              <a:t>Key EDA Insights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457200" y="1124744"/>
            <a:ext cx="7467600" cy="5349208"/>
          </a:xfrm>
        </p:spPr>
        <p:txBody>
          <a:bodyPr/>
          <a:lstStyle/>
          <a:p>
            <a:pPr marL="457200" indent="-457200" algn="just">
              <a:buFont typeface="+mj-lt"/>
              <a:buAutoNum type="arabicPeriod"/>
            </a:pPr>
            <a:r>
              <a:rPr lang="en-US" sz="1400" dirty="0" smtClean="0"/>
              <a:t>Industry folios increased from 13.26 Cr to 26.12 Cr</a:t>
            </a:r>
            <a:r>
              <a:rPr lang="en-US" sz="1400" dirty="0" smtClean="0"/>
              <a:t>.</a:t>
            </a:r>
          </a:p>
          <a:p>
            <a:pPr marL="457200" indent="-457200" algn="just">
              <a:buFont typeface="+mj-lt"/>
              <a:buAutoNum type="arabicPeriod"/>
            </a:pPr>
            <a:r>
              <a:rPr lang="en-US" sz="1400" dirty="0" smtClean="0"/>
              <a:t> </a:t>
            </a:r>
            <a:r>
              <a:rPr lang="en-US" sz="1400" dirty="0" smtClean="0"/>
              <a:t>SIP inflows reached record highs in 2025. </a:t>
            </a:r>
            <a:endParaRPr lang="en-US" sz="1400" dirty="0" smtClean="0"/>
          </a:p>
          <a:p>
            <a:pPr marL="457200" indent="-457200" algn="just">
              <a:buFont typeface="+mj-lt"/>
              <a:buAutoNum type="arabicPeriod"/>
            </a:pPr>
            <a:r>
              <a:rPr lang="en-US" sz="1400" dirty="0" smtClean="0"/>
              <a:t>SBI </a:t>
            </a:r>
            <a:r>
              <a:rPr lang="en-US" sz="1400" dirty="0" smtClean="0"/>
              <a:t>Mutual Fund maintained the highest AUM. </a:t>
            </a:r>
            <a:endParaRPr lang="en-US" sz="1400" dirty="0" smtClean="0"/>
          </a:p>
          <a:p>
            <a:pPr marL="457200" indent="-457200" algn="just">
              <a:buFont typeface="+mj-lt"/>
              <a:buAutoNum type="arabicPeriod"/>
            </a:pPr>
            <a:r>
              <a:rPr lang="en-US" sz="1400" dirty="0" smtClean="0"/>
              <a:t>Equity-oriented </a:t>
            </a:r>
            <a:r>
              <a:rPr lang="en-US" sz="1400" dirty="0" smtClean="0"/>
              <a:t>funds attracted the largest investor participation. </a:t>
            </a:r>
            <a:endParaRPr lang="en-US" sz="1400" dirty="0" smtClean="0"/>
          </a:p>
          <a:p>
            <a:pPr marL="457200" indent="-457200" algn="just">
              <a:buFont typeface="+mj-lt"/>
              <a:buAutoNum type="arabicPeriod"/>
            </a:pPr>
            <a:r>
              <a:rPr lang="en-US" sz="1400" dirty="0" smtClean="0"/>
              <a:t>T30 </a:t>
            </a:r>
            <a:r>
              <a:rPr lang="en-US" sz="1400" dirty="0" smtClean="0"/>
              <a:t>cities contributed the majority of investments. </a:t>
            </a:r>
            <a:endParaRPr lang="en-US" sz="1400" dirty="0" smtClean="0"/>
          </a:p>
          <a:p>
            <a:pPr marL="457200" indent="-457200" algn="just">
              <a:buFont typeface="+mj-lt"/>
              <a:buAutoNum type="arabicPeriod"/>
            </a:pPr>
            <a:r>
              <a:rPr lang="en-US" sz="1400" dirty="0" smtClean="0"/>
              <a:t>Male </a:t>
            </a:r>
            <a:r>
              <a:rPr lang="en-US" sz="1400" dirty="0" smtClean="0"/>
              <a:t>investors represented a larger transaction share. </a:t>
            </a:r>
            <a:endParaRPr lang="en-US" sz="1400" dirty="0" smtClean="0"/>
          </a:p>
          <a:p>
            <a:pPr marL="457200" indent="-457200" algn="just">
              <a:buFont typeface="+mj-lt"/>
              <a:buAutoNum type="arabicPeriod"/>
            </a:pPr>
            <a:r>
              <a:rPr lang="en-US" sz="1400" dirty="0" smtClean="0"/>
              <a:t>Small-cap </a:t>
            </a:r>
            <a:r>
              <a:rPr lang="en-US" sz="1400" dirty="0" smtClean="0"/>
              <a:t>funds delivered higher returns with higher risk. </a:t>
            </a:r>
            <a:endParaRPr lang="en-US" sz="1400" dirty="0" smtClean="0"/>
          </a:p>
          <a:p>
            <a:pPr marL="457200" indent="-457200" algn="just">
              <a:buFont typeface="+mj-lt"/>
              <a:buAutoNum type="arabicPeriod"/>
            </a:pPr>
            <a:r>
              <a:rPr lang="en-US" sz="1400" dirty="0" smtClean="0"/>
              <a:t>Monthly </a:t>
            </a:r>
            <a:r>
              <a:rPr lang="en-US" sz="1400" dirty="0" smtClean="0"/>
              <a:t>SIP contributions showed consistent growth. </a:t>
            </a:r>
            <a:endParaRPr lang="en-US" sz="1400" dirty="0" smtClean="0"/>
          </a:p>
          <a:p>
            <a:pPr marL="457200" indent="-457200" algn="just">
              <a:buFont typeface="+mj-lt"/>
              <a:buAutoNum type="arabicPeriod"/>
            </a:pPr>
            <a:r>
              <a:rPr lang="en-US" sz="1400" dirty="0" smtClean="0"/>
              <a:t>Investor </a:t>
            </a:r>
            <a:r>
              <a:rPr lang="en-US" sz="1400" dirty="0" smtClean="0"/>
              <a:t>participation expanded across multiple age groups. </a:t>
            </a:r>
            <a:endParaRPr lang="en-US" sz="1400" dirty="0" smtClean="0"/>
          </a:p>
          <a:p>
            <a:pPr marL="457200" indent="-457200" algn="just">
              <a:buFont typeface="+mj-lt"/>
              <a:buAutoNum type="arabicPeriod"/>
            </a:pPr>
            <a:r>
              <a:rPr lang="en-US" sz="1400" dirty="0" smtClean="0"/>
              <a:t>Category </a:t>
            </a:r>
            <a:r>
              <a:rPr lang="en-US" sz="1400" dirty="0" smtClean="0"/>
              <a:t>inflows varied significantly across market cycles</a:t>
            </a:r>
            <a:r>
              <a:rPr lang="en-US" sz="2000" dirty="0" smtClean="0"/>
              <a:t>.</a:t>
            </a:r>
            <a:endParaRPr lang="en-US" dirty="0"/>
          </a:p>
        </p:txBody>
      </p:sp>
      <p:pic>
        <p:nvPicPr>
          <p:cNvPr id="7" name="Picture 6" descr="Screenshot 2026-06-10 232950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4509120"/>
            <a:ext cx="2304256" cy="1944216"/>
          </a:xfrm>
          <a:prstGeom prst="rect">
            <a:avLst/>
          </a:prstGeom>
        </p:spPr>
      </p:pic>
      <p:pic>
        <p:nvPicPr>
          <p:cNvPr id="8" name="Picture 7" descr="Screenshot 2026-06-10 233002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275856" y="4437113"/>
            <a:ext cx="4580649" cy="20162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Performance Analytics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 numCol="2">
            <a:normAutofit/>
          </a:bodyPr>
          <a:lstStyle/>
          <a:p>
            <a:pPr>
              <a:buNone/>
            </a:pPr>
            <a:r>
              <a:rPr lang="en-US" sz="1800" b="1" dirty="0" smtClean="0"/>
              <a:t>Metrics Calculated</a:t>
            </a:r>
          </a:p>
          <a:p>
            <a:r>
              <a:rPr lang="en-US" sz="1400" dirty="0" smtClean="0"/>
              <a:t>CAGR </a:t>
            </a:r>
          </a:p>
          <a:p>
            <a:r>
              <a:rPr lang="en-US" sz="1400" dirty="0" smtClean="0"/>
              <a:t>Sharpe Ratio </a:t>
            </a:r>
          </a:p>
          <a:p>
            <a:r>
              <a:rPr lang="en-US" sz="1400" dirty="0" err="1" smtClean="0"/>
              <a:t>Sortino</a:t>
            </a:r>
            <a:r>
              <a:rPr lang="en-US" sz="1400" dirty="0" smtClean="0"/>
              <a:t> Ratio </a:t>
            </a:r>
          </a:p>
          <a:p>
            <a:r>
              <a:rPr lang="en-US" sz="1400" dirty="0" smtClean="0"/>
              <a:t>Alpha </a:t>
            </a:r>
          </a:p>
          <a:p>
            <a:r>
              <a:rPr lang="en-US" sz="1400" dirty="0" smtClean="0"/>
              <a:t>Beta </a:t>
            </a:r>
          </a:p>
          <a:p>
            <a:r>
              <a:rPr lang="en-US" sz="1400" dirty="0" smtClean="0"/>
              <a:t>Maximum Drawdown </a:t>
            </a:r>
          </a:p>
          <a:p>
            <a:r>
              <a:rPr lang="en-US" sz="1400" dirty="0" smtClean="0"/>
              <a:t>Fund </a:t>
            </a:r>
            <a:r>
              <a:rPr lang="en-US" sz="1400" dirty="0" smtClean="0"/>
              <a:t>Score</a:t>
            </a:r>
          </a:p>
          <a:p>
            <a:pPr>
              <a:buNone/>
            </a:pPr>
            <a:endParaRPr lang="en-US" sz="1800" b="1" dirty="0" smtClean="0"/>
          </a:p>
          <a:p>
            <a:pPr>
              <a:buNone/>
            </a:pPr>
            <a:r>
              <a:rPr lang="en-US" sz="1800" b="1" dirty="0" smtClean="0"/>
              <a:t>Outcome</a:t>
            </a:r>
            <a:endParaRPr lang="en-US" sz="1800" b="1" dirty="0" smtClean="0"/>
          </a:p>
          <a:p>
            <a:r>
              <a:rPr lang="en-US" sz="1400" dirty="0" smtClean="0"/>
              <a:t>A comprehensive scorecard was developed to rank mutual funds based on return, risk, alpha, expenses, and drawdown performance</a:t>
            </a:r>
            <a:r>
              <a:rPr lang="en-US" sz="1800" dirty="0" smtClean="0"/>
              <a:t>.</a:t>
            </a:r>
          </a:p>
          <a:p>
            <a:pPr>
              <a:buNone/>
            </a:pPr>
            <a:endParaRPr lang="en-US" sz="1800" b="1" dirty="0" smtClean="0"/>
          </a:p>
          <a:p>
            <a:pPr>
              <a:buNone/>
            </a:pPr>
            <a:endParaRPr lang="en-US" sz="1800" b="1" dirty="0" smtClean="0"/>
          </a:p>
          <a:p>
            <a:pPr>
              <a:buNone/>
            </a:pPr>
            <a:r>
              <a:rPr lang="en-US" sz="1800" b="1" dirty="0" smtClean="0"/>
              <a:t>Analysis </a:t>
            </a:r>
            <a:r>
              <a:rPr lang="en-US" sz="1800" b="1" dirty="0" smtClean="0"/>
              <a:t>Performed</a:t>
            </a:r>
          </a:p>
          <a:p>
            <a:r>
              <a:rPr lang="en-US" sz="1400" dirty="0" smtClean="0"/>
              <a:t>Daily return calculation </a:t>
            </a:r>
          </a:p>
          <a:p>
            <a:r>
              <a:rPr lang="en-US" sz="1400" dirty="0" smtClean="0"/>
              <a:t>Risk-adjusted performance evaluation </a:t>
            </a:r>
          </a:p>
          <a:p>
            <a:r>
              <a:rPr lang="en-US" sz="1400" dirty="0" smtClean="0"/>
              <a:t>Benchmark comparison </a:t>
            </a:r>
          </a:p>
          <a:p>
            <a:r>
              <a:rPr lang="en-US" sz="1400" dirty="0" smtClean="0"/>
              <a:t>Fund ranking system</a:t>
            </a:r>
          </a:p>
          <a:p>
            <a:endParaRPr lang="en-US" sz="1800" dirty="0" smtClean="0"/>
          </a:p>
          <a:p>
            <a:pPr>
              <a:buNone/>
            </a:pPr>
            <a:endParaRPr lang="en-US" sz="1800" dirty="0"/>
          </a:p>
        </p:txBody>
      </p:sp>
      <p:pic>
        <p:nvPicPr>
          <p:cNvPr id="4" name="Picture 3" descr="Screenshot 2026-06-10 23320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211960" y="3789040"/>
            <a:ext cx="3673159" cy="249195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Advanced Analytics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sz="1800" b="1" dirty="0" smtClean="0"/>
              <a:t>Risk Analytics</a:t>
            </a:r>
          </a:p>
          <a:p>
            <a:pPr lvl="1"/>
            <a:r>
              <a:rPr lang="en-US" sz="1400" dirty="0" smtClean="0"/>
              <a:t>Historical </a:t>
            </a:r>
            <a:r>
              <a:rPr lang="en-US" sz="1400" dirty="0" err="1" smtClean="0"/>
              <a:t>VaR</a:t>
            </a:r>
            <a:r>
              <a:rPr lang="en-US" sz="1400" dirty="0" smtClean="0"/>
              <a:t> (95%) </a:t>
            </a:r>
          </a:p>
          <a:p>
            <a:pPr lvl="1"/>
            <a:r>
              <a:rPr lang="en-US" sz="1400" dirty="0" smtClean="0"/>
              <a:t>Conditional </a:t>
            </a:r>
            <a:r>
              <a:rPr lang="en-US" sz="1400" dirty="0" err="1" smtClean="0"/>
              <a:t>VaR</a:t>
            </a:r>
            <a:r>
              <a:rPr lang="en-US" sz="1400" dirty="0" smtClean="0"/>
              <a:t> (</a:t>
            </a:r>
            <a:r>
              <a:rPr lang="en-US" sz="1400" dirty="0" err="1" smtClean="0"/>
              <a:t>CVaR</a:t>
            </a:r>
            <a:r>
              <a:rPr lang="en-US" sz="1400" dirty="0" smtClean="0"/>
              <a:t>) </a:t>
            </a:r>
          </a:p>
          <a:p>
            <a:pPr lvl="1"/>
            <a:r>
              <a:rPr lang="en-US" sz="1400" dirty="0" smtClean="0"/>
              <a:t>Rolling 90-Day Sharpe Ratio </a:t>
            </a:r>
            <a:endParaRPr lang="en-US" sz="1400" dirty="0" smtClean="0"/>
          </a:p>
          <a:p>
            <a:pPr lvl="1"/>
            <a:endParaRPr lang="en-US" sz="1400" dirty="0" smtClean="0"/>
          </a:p>
          <a:p>
            <a:pPr>
              <a:buNone/>
            </a:pPr>
            <a:r>
              <a:rPr lang="en-US" sz="1800" b="1" dirty="0" smtClean="0"/>
              <a:t>Investor Analytics</a:t>
            </a:r>
          </a:p>
          <a:p>
            <a:pPr lvl="1"/>
            <a:r>
              <a:rPr lang="en-US" sz="1400" dirty="0" smtClean="0"/>
              <a:t>Cohort Analysis </a:t>
            </a:r>
          </a:p>
          <a:p>
            <a:pPr lvl="1"/>
            <a:r>
              <a:rPr lang="en-US" sz="1400" dirty="0" smtClean="0"/>
              <a:t>SIP Continuity Analysis </a:t>
            </a:r>
          </a:p>
          <a:p>
            <a:pPr lvl="1"/>
            <a:r>
              <a:rPr lang="en-US" sz="1400" dirty="0" smtClean="0"/>
              <a:t>At-Risk Investor Detection </a:t>
            </a:r>
            <a:endParaRPr lang="en-US" sz="1400" dirty="0" smtClean="0"/>
          </a:p>
          <a:p>
            <a:pPr lvl="1"/>
            <a:endParaRPr lang="en-US" sz="1400" dirty="0" smtClean="0"/>
          </a:p>
          <a:p>
            <a:pPr>
              <a:buNone/>
            </a:pPr>
            <a:r>
              <a:rPr lang="en-US" sz="1800" b="1" dirty="0" smtClean="0"/>
              <a:t>Portfolio Analytics</a:t>
            </a:r>
          </a:p>
          <a:p>
            <a:pPr lvl="1"/>
            <a:r>
              <a:rPr lang="en-US" sz="1400" dirty="0" smtClean="0"/>
              <a:t>Sector Concentration (HHI) </a:t>
            </a:r>
          </a:p>
          <a:p>
            <a:pPr lvl="1"/>
            <a:r>
              <a:rPr lang="en-US" sz="1400" dirty="0" smtClean="0"/>
              <a:t>Fund Recommendation </a:t>
            </a:r>
            <a:r>
              <a:rPr lang="en-US" sz="1400" dirty="0" smtClean="0"/>
              <a:t>Engine</a:t>
            </a:r>
          </a:p>
          <a:p>
            <a:pPr lvl="1"/>
            <a:endParaRPr lang="en-US" sz="1400" dirty="0" smtClean="0"/>
          </a:p>
          <a:p>
            <a:pPr>
              <a:buNone/>
            </a:pPr>
            <a:r>
              <a:rPr lang="en-US" sz="1800" b="1" dirty="0" smtClean="0"/>
              <a:t>Key </a:t>
            </a:r>
            <a:r>
              <a:rPr lang="en-US" sz="1800" b="1" dirty="0" smtClean="0"/>
              <a:t>Insight</a:t>
            </a:r>
          </a:p>
          <a:p>
            <a:r>
              <a:rPr lang="en-US" sz="1600" dirty="0" smtClean="0"/>
              <a:t>Small </a:t>
            </a:r>
            <a:r>
              <a:rPr lang="en-US" sz="1600" dirty="0" smtClean="0"/>
              <a:t>Cap funds generated higher returns but carried significantly higher downside risk</a:t>
            </a:r>
            <a:r>
              <a:rPr lang="en-US" sz="1600" dirty="0" smtClean="0"/>
              <a:t>.</a:t>
            </a:r>
            <a:endParaRPr lang="en-US" sz="1600" dirty="0" smtClean="0"/>
          </a:p>
          <a:p>
            <a:pPr>
              <a:buNone/>
            </a:pPr>
            <a:endParaRPr lang="en-US" sz="1800" dirty="0"/>
          </a:p>
        </p:txBody>
      </p:sp>
      <p:pic>
        <p:nvPicPr>
          <p:cNvPr id="5" name="Picture 4" descr="Screenshot 2026-06-10 233553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995936" y="2780928"/>
            <a:ext cx="4426742" cy="239048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7467600" cy="620688"/>
          </a:xfrm>
        </p:spPr>
        <p:txBody>
          <a:bodyPr/>
          <a:lstStyle/>
          <a:p>
            <a:r>
              <a:rPr lang="en-US" dirty="0" smtClean="0"/>
              <a:t>Interactive Dashboard</a:t>
            </a:r>
            <a:endParaRPr lang="en-US" dirty="0"/>
          </a:p>
        </p:txBody>
      </p:sp>
      <p:sp>
        <p:nvSpPr>
          <p:cNvPr id="10" name="Content Placeholder 9"/>
          <p:cNvSpPr>
            <a:spLocks noGrp="1"/>
          </p:cNvSpPr>
          <p:nvPr>
            <p:ph sz="quarter" idx="1"/>
          </p:nvPr>
        </p:nvSpPr>
        <p:spPr>
          <a:xfrm>
            <a:off x="457200" y="692696"/>
            <a:ext cx="7715200" cy="5781256"/>
          </a:xfrm>
        </p:spPr>
        <p:txBody>
          <a:bodyPr numCol="2">
            <a:normAutofit/>
          </a:bodyPr>
          <a:lstStyle/>
          <a:p>
            <a:pPr>
              <a:buNone/>
            </a:pPr>
            <a:r>
              <a:rPr lang="en-US" sz="1100" b="1" dirty="0" smtClean="0"/>
              <a:t>Page 1 – Industry Overview</a:t>
            </a:r>
          </a:p>
          <a:p>
            <a:r>
              <a:rPr lang="en-US" sz="1100" dirty="0" smtClean="0"/>
              <a:t>AUM </a:t>
            </a:r>
          </a:p>
          <a:p>
            <a:r>
              <a:rPr lang="en-US" sz="1100" dirty="0" smtClean="0"/>
              <a:t>SIP Inflows </a:t>
            </a:r>
          </a:p>
          <a:p>
            <a:r>
              <a:rPr lang="en-US" sz="1100" dirty="0" smtClean="0"/>
              <a:t>Folios </a:t>
            </a:r>
          </a:p>
          <a:p>
            <a:r>
              <a:rPr lang="en-US" sz="1100" dirty="0" smtClean="0"/>
              <a:t>Industry Trends </a:t>
            </a:r>
          </a:p>
          <a:p>
            <a:pPr>
              <a:buNone/>
            </a:pPr>
            <a:r>
              <a:rPr lang="en-US" sz="1100" b="1" dirty="0" smtClean="0"/>
              <a:t>Page 2 – Fund Performance</a:t>
            </a:r>
          </a:p>
          <a:p>
            <a:r>
              <a:rPr lang="en-US" sz="1100" dirty="0" smtClean="0"/>
              <a:t>Return </a:t>
            </a:r>
            <a:r>
              <a:rPr lang="en-US" sz="1100" dirty="0" err="1" smtClean="0"/>
              <a:t>vs</a:t>
            </a:r>
            <a:r>
              <a:rPr lang="en-US" sz="1100" dirty="0" smtClean="0"/>
              <a:t> Risk </a:t>
            </a:r>
          </a:p>
          <a:p>
            <a:r>
              <a:rPr lang="en-US" sz="1100" dirty="0" smtClean="0"/>
              <a:t>Fund Scorecard </a:t>
            </a:r>
          </a:p>
          <a:p>
            <a:r>
              <a:rPr lang="en-US" sz="1100" dirty="0" smtClean="0"/>
              <a:t>Alpha-Beta Analysis </a:t>
            </a:r>
          </a:p>
          <a:p>
            <a:endParaRPr lang="en-US" sz="1100" b="1" dirty="0" smtClean="0"/>
          </a:p>
          <a:p>
            <a:endParaRPr lang="en-US" sz="1100" b="1" dirty="0" smtClean="0"/>
          </a:p>
          <a:p>
            <a:endParaRPr lang="en-US" sz="1100" b="1" dirty="0" smtClean="0"/>
          </a:p>
          <a:p>
            <a:pPr>
              <a:buNone/>
            </a:pPr>
            <a:endParaRPr lang="en-US" sz="1100" b="1" dirty="0" smtClean="0"/>
          </a:p>
          <a:p>
            <a:endParaRPr lang="en-US" sz="1100" b="1" dirty="0" smtClean="0"/>
          </a:p>
          <a:p>
            <a:endParaRPr lang="en-US" sz="1100" b="1" dirty="0" smtClean="0"/>
          </a:p>
          <a:p>
            <a:endParaRPr lang="en-US" sz="1100" b="1" dirty="0" smtClean="0"/>
          </a:p>
          <a:p>
            <a:endParaRPr lang="en-US" sz="1100" b="1" dirty="0" smtClean="0"/>
          </a:p>
          <a:p>
            <a:endParaRPr lang="en-US" sz="1100" b="1" dirty="0" smtClean="0"/>
          </a:p>
          <a:p>
            <a:endParaRPr lang="en-US" sz="1100" b="1" dirty="0" smtClean="0"/>
          </a:p>
          <a:p>
            <a:pPr>
              <a:buNone/>
            </a:pPr>
            <a:endParaRPr lang="en-US" sz="1100" b="1" dirty="0" smtClean="0"/>
          </a:p>
          <a:p>
            <a:pPr>
              <a:buNone/>
            </a:pPr>
            <a:endParaRPr lang="en-US" sz="1100" b="1" dirty="0" smtClean="0"/>
          </a:p>
          <a:p>
            <a:pPr>
              <a:buNone/>
            </a:pPr>
            <a:endParaRPr lang="en-US" sz="1100" b="1" dirty="0" smtClean="0"/>
          </a:p>
          <a:p>
            <a:pPr>
              <a:buNone/>
            </a:pPr>
            <a:endParaRPr lang="en-US" sz="1100" b="1" dirty="0" smtClean="0"/>
          </a:p>
          <a:p>
            <a:pPr>
              <a:buNone/>
            </a:pPr>
            <a:r>
              <a:rPr lang="en-US" sz="1100" b="1" dirty="0" smtClean="0"/>
              <a:t>Page </a:t>
            </a:r>
            <a:r>
              <a:rPr lang="en-US" sz="1100" b="1" dirty="0" smtClean="0"/>
              <a:t>3 – Investor Analytics</a:t>
            </a:r>
          </a:p>
          <a:p>
            <a:r>
              <a:rPr lang="en-US" sz="1100" dirty="0" smtClean="0"/>
              <a:t>State Analysis </a:t>
            </a:r>
          </a:p>
          <a:p>
            <a:r>
              <a:rPr lang="en-US" sz="1100" dirty="0" smtClean="0"/>
              <a:t>Age Group Analysis </a:t>
            </a:r>
          </a:p>
          <a:p>
            <a:r>
              <a:rPr lang="en-US" sz="1100" dirty="0" smtClean="0"/>
              <a:t>Transaction Distribution </a:t>
            </a:r>
          </a:p>
          <a:p>
            <a:pPr>
              <a:buNone/>
            </a:pPr>
            <a:r>
              <a:rPr lang="en-US" sz="1100" b="1" dirty="0" smtClean="0"/>
              <a:t>Page 4 – SIP &amp; Market Trends</a:t>
            </a:r>
          </a:p>
          <a:p>
            <a:r>
              <a:rPr lang="en-US" sz="1100" dirty="0" smtClean="0"/>
              <a:t>SIP Growth </a:t>
            </a:r>
          </a:p>
          <a:p>
            <a:r>
              <a:rPr lang="en-US" sz="1100" dirty="0" smtClean="0"/>
              <a:t>Category Inflows </a:t>
            </a:r>
          </a:p>
          <a:p>
            <a:r>
              <a:rPr lang="en-US" sz="1100" dirty="0" smtClean="0"/>
              <a:t>Market Trends</a:t>
            </a:r>
          </a:p>
          <a:p>
            <a:endParaRPr lang="en-US" sz="1100" dirty="0"/>
          </a:p>
        </p:txBody>
      </p:sp>
      <p:pic>
        <p:nvPicPr>
          <p:cNvPr id="11" name="Picture 10" descr="page1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39552" y="3068960"/>
            <a:ext cx="3312368" cy="1584176"/>
          </a:xfrm>
          <a:prstGeom prst="rect">
            <a:avLst/>
          </a:prstGeom>
        </p:spPr>
      </p:pic>
      <p:pic>
        <p:nvPicPr>
          <p:cNvPr id="12" name="Picture 11" descr="page2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67544" y="4869160"/>
            <a:ext cx="3384376" cy="1728192"/>
          </a:xfrm>
          <a:prstGeom prst="rect">
            <a:avLst/>
          </a:prstGeom>
        </p:spPr>
      </p:pic>
      <p:pic>
        <p:nvPicPr>
          <p:cNvPr id="13" name="Picture 12" descr="page3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355976" y="3068959"/>
            <a:ext cx="3456384" cy="1656185"/>
          </a:xfrm>
          <a:prstGeom prst="rect">
            <a:avLst/>
          </a:prstGeom>
        </p:spPr>
      </p:pic>
      <p:pic>
        <p:nvPicPr>
          <p:cNvPr id="14" name="Picture 13" descr="page4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355976" y="4869160"/>
            <a:ext cx="3456384" cy="172819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 &amp; Future Scope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10000"/>
          </a:bodyPr>
          <a:lstStyle/>
          <a:p>
            <a:pPr>
              <a:buNone/>
            </a:pPr>
            <a:r>
              <a:rPr lang="en-US" sz="1800" b="1" dirty="0" smtClean="0"/>
              <a:t>Conclusion</a:t>
            </a:r>
          </a:p>
          <a:p>
            <a:pPr>
              <a:lnSpc>
                <a:spcPct val="150000"/>
              </a:lnSpc>
            </a:pPr>
            <a:r>
              <a:rPr lang="en-US" sz="1600" dirty="0" smtClean="0"/>
              <a:t>Successfully developed an end-to-end mutual fund analytics solution. </a:t>
            </a:r>
          </a:p>
          <a:p>
            <a:pPr>
              <a:lnSpc>
                <a:spcPct val="150000"/>
              </a:lnSpc>
            </a:pPr>
            <a:r>
              <a:rPr lang="en-US" sz="1600" dirty="0" smtClean="0"/>
              <a:t>Performed ETL, EDA, risk analysis, and performance evaluation. </a:t>
            </a:r>
          </a:p>
          <a:p>
            <a:pPr>
              <a:lnSpc>
                <a:spcPct val="150000"/>
              </a:lnSpc>
            </a:pPr>
            <a:r>
              <a:rPr lang="en-US" sz="1600" dirty="0" smtClean="0"/>
              <a:t>Built a fully interactive Power BI dashboard. </a:t>
            </a:r>
          </a:p>
          <a:p>
            <a:pPr>
              <a:lnSpc>
                <a:spcPct val="150000"/>
              </a:lnSpc>
            </a:pPr>
            <a:r>
              <a:rPr lang="en-US" sz="1600" dirty="0" smtClean="0"/>
              <a:t>Generated actionable investment insights using advanced analytics</a:t>
            </a:r>
            <a:r>
              <a:rPr lang="en-US" sz="1600" dirty="0" smtClean="0"/>
              <a:t>.</a:t>
            </a:r>
          </a:p>
          <a:p>
            <a:endParaRPr lang="en-US" sz="1600" dirty="0" smtClean="0"/>
          </a:p>
          <a:p>
            <a:pPr>
              <a:buNone/>
            </a:pPr>
            <a:r>
              <a:rPr lang="en-US" sz="1800" b="1" dirty="0" smtClean="0"/>
              <a:t>Future Scope</a:t>
            </a:r>
          </a:p>
          <a:p>
            <a:pPr>
              <a:lnSpc>
                <a:spcPct val="150000"/>
              </a:lnSpc>
            </a:pPr>
            <a:r>
              <a:rPr lang="en-US" sz="1600" dirty="0" smtClean="0"/>
              <a:t>Live NAV integration using APIs </a:t>
            </a:r>
          </a:p>
          <a:p>
            <a:pPr>
              <a:lnSpc>
                <a:spcPct val="150000"/>
              </a:lnSpc>
            </a:pPr>
            <a:r>
              <a:rPr lang="en-US" sz="1600" dirty="0" smtClean="0"/>
              <a:t>Automated daily data refresh </a:t>
            </a:r>
          </a:p>
          <a:p>
            <a:pPr>
              <a:lnSpc>
                <a:spcPct val="150000"/>
              </a:lnSpc>
            </a:pPr>
            <a:r>
              <a:rPr lang="en-US" sz="1600" dirty="0" err="1" smtClean="0"/>
              <a:t>Streamlit</a:t>
            </a:r>
            <a:r>
              <a:rPr lang="en-US" sz="1600" dirty="0" smtClean="0"/>
              <a:t> web application </a:t>
            </a:r>
          </a:p>
          <a:p>
            <a:pPr>
              <a:lnSpc>
                <a:spcPct val="150000"/>
              </a:lnSpc>
            </a:pPr>
            <a:r>
              <a:rPr lang="en-US" sz="1600" dirty="0" smtClean="0"/>
              <a:t>Machine Learning-based fund recommendation </a:t>
            </a:r>
          </a:p>
          <a:p>
            <a:pPr>
              <a:lnSpc>
                <a:spcPct val="150000"/>
              </a:lnSpc>
            </a:pPr>
            <a:r>
              <a:rPr lang="en-US" sz="1600" dirty="0" smtClean="0"/>
              <a:t>Portfolio optimization using Modern Portfolio Theory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ankyou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el">
  <a:themeElements>
    <a:clrScheme name="Flow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Oriel">
      <a:majorFont>
        <a:latin typeface="Century Schoolbook"/>
        <a:ea typeface=""/>
        <a:cs typeface=""/>
        <a:font script="Jpan" typeface="ＭＳ Ｐ明朝"/>
        <a:font script="Hang" typeface="휴먼매직체"/>
        <a:font script="Hans" typeface="华文楷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entury Schoolbook"/>
        <a:ea typeface=""/>
        <a:cs typeface=""/>
        <a:font script="Jpan" typeface="ＭＳ Ｐ明朝"/>
        <a:font script="Hang" typeface="휴먼매직체"/>
        <a:font script="Hans" typeface="宋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Oriel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60000"/>
              </a:schemeClr>
            </a:gs>
            <a:gs pos="30000">
              <a:schemeClr val="phClr">
                <a:tint val="38000"/>
                <a:satMod val="260000"/>
              </a:schemeClr>
            </a:gs>
            <a:gs pos="75000">
              <a:schemeClr val="phClr">
                <a:tint val="55000"/>
                <a:satMod val="255000"/>
              </a:schemeClr>
            </a:gs>
            <a:gs pos="100000">
              <a:schemeClr val="phClr">
                <a:tint val="70000"/>
                <a:satMod val="255000"/>
              </a:schemeClr>
            </a:gs>
          </a:gsLst>
          <a:path path="circle">
            <a:fillToRect l="5000" t="100000" r="120000" b="10000"/>
          </a:path>
        </a:gradFill>
        <a:gradFill rotWithShape="1">
          <a:gsLst>
            <a:gs pos="0">
              <a:schemeClr val="phClr">
                <a:shade val="63000"/>
                <a:satMod val="165000"/>
              </a:schemeClr>
            </a:gs>
            <a:gs pos="30000">
              <a:schemeClr val="phClr">
                <a:shade val="58000"/>
                <a:satMod val="165000"/>
              </a:schemeClr>
            </a:gs>
            <a:gs pos="75000">
              <a:schemeClr val="phClr">
                <a:shade val="30000"/>
                <a:satMod val="175000"/>
              </a:schemeClr>
            </a:gs>
            <a:gs pos="100000">
              <a:schemeClr val="phClr">
                <a:shade val="15000"/>
                <a:satMod val="175000"/>
              </a:schemeClr>
            </a:gs>
          </a:gsLst>
          <a:path path="circle">
            <a:fillToRect l="5000" t="100000" r="120000" b="10000"/>
          </a:path>
        </a:gradFill>
      </a:fillStyleLst>
      <a:lnStyleLst>
        <a:ln w="12700" cap="flat" cmpd="sng" algn="ctr">
          <a:solidFill>
            <a:schemeClr val="phClr">
              <a:shade val="70000"/>
              <a:satMod val="15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492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0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0"/>
            </a:lightRig>
          </a:scene3d>
          <a:sp3d>
            <a:bevelT w="47625" h="69850"/>
            <a:contourClr>
              <a:schemeClr val="lt1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8000"/>
                <a:satMod val="125000"/>
              </a:schemeClr>
            </a:gs>
            <a:gs pos="40000">
              <a:schemeClr val="phClr">
                <a:tint val="90000"/>
                <a:shade val="90000"/>
                <a:satMod val="120000"/>
              </a:schemeClr>
            </a:gs>
            <a:gs pos="100000">
              <a:schemeClr val="phClr">
                <a:tint val="5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80000"/>
              </a:schemeClr>
              <a:schemeClr val="phClr">
                <a:tint val="91000"/>
              </a:schemeClr>
            </a:duotone>
          </a:blip>
          <a:tile tx="0" ty="0" sx="40000" sy="50000" flip="y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Oriel</Template>
  <TotalTime>87</TotalTime>
  <Words>411</Words>
  <Application>Microsoft Office PowerPoint</Application>
  <PresentationFormat>On-screen Show (4:3)</PresentationFormat>
  <Paragraphs>130</Paragraphs>
  <Slides>9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Oriel</vt:lpstr>
      <vt:lpstr>Bluestock Mutual Fund Analytics Project</vt:lpstr>
      <vt:lpstr>Project Overview</vt:lpstr>
      <vt:lpstr>Data Pipeline</vt:lpstr>
      <vt:lpstr>Key EDA Insights</vt:lpstr>
      <vt:lpstr>Performance Analytics</vt:lpstr>
      <vt:lpstr>Advanced Analytics</vt:lpstr>
      <vt:lpstr>Interactive Dashboard</vt:lpstr>
      <vt:lpstr>Conclusion &amp; Future Scope</vt:lpstr>
      <vt:lpstr>Slide 9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Bluestock Mutual Fund Analytics Project</dc:title>
  <dc:creator>Sunayana Saman</dc:creator>
  <cp:lastModifiedBy>Sunayana Saman</cp:lastModifiedBy>
  <cp:revision>10</cp:revision>
  <dcterms:created xsi:type="dcterms:W3CDTF">2026-06-10T17:23:53Z</dcterms:created>
  <dcterms:modified xsi:type="dcterms:W3CDTF">2026-06-11T06:49:02Z</dcterms:modified>
</cp:coreProperties>
</file>