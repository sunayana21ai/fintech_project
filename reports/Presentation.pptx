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66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D5D19-666C-420B-B7DA-CE0639795B37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16093-5524-4C0E-A58F-67CE8C1DF6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16093-5524-4C0E-A58F-67CE8C1DF6B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9C8B1AA-D486-4B6C-8C35-7A001614DAD6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3889E28-5972-41D7-8165-D2545B7702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Mutual </a:t>
            </a:r>
            <a:r>
              <a:rPr lang="en-US" dirty="0" smtClean="0"/>
              <a:t>Fund Analytics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Submitted By:</a:t>
            </a:r>
            <a:br>
              <a:rPr lang="en-US" dirty="0" smtClean="0"/>
            </a:br>
            <a:r>
              <a:rPr lang="en-US" dirty="0" err="1" smtClean="0"/>
              <a:t>Sunayana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  <a:buNone/>
            </a:pPr>
            <a:r>
              <a:rPr lang="en-US" sz="2500" b="1" dirty="0" smtClean="0"/>
              <a:t>Objective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Analyze Indian Mutual Fund Industry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Study SIP growth and AUM trends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Evaluate fund performance using risk metrics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Build interactive Power BI dashboard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2500" b="1" dirty="0" smtClean="0"/>
              <a:t>Datasets Used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Fund Master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NAV History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AUM Data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SIP Inflows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Investor Transactions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Portfolio Holdings </a:t>
            </a:r>
          </a:p>
          <a:p>
            <a:pPr algn="just">
              <a:lnSpc>
                <a:spcPct val="170000"/>
              </a:lnSpc>
            </a:pPr>
            <a:r>
              <a:rPr lang="en-US" sz="2500" dirty="0" smtClean="0"/>
              <a:t>Benchmark Indices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936104"/>
          </a:xfrm>
        </p:spPr>
        <p:txBody>
          <a:bodyPr/>
          <a:lstStyle/>
          <a:p>
            <a:r>
              <a:rPr lang="en-US" dirty="0" smtClean="0"/>
              <a:t>Data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1412776"/>
            <a:ext cx="7313240" cy="5061176"/>
          </a:xfrm>
        </p:spPr>
        <p:txBody>
          <a:bodyPr numCol="1">
            <a:normAutofit lnSpcReduction="10000"/>
          </a:bodyPr>
          <a:lstStyle/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endParaRPr lang="en-US" sz="1400" b="1" dirty="0" smtClean="0"/>
          </a:p>
          <a:p>
            <a:pPr>
              <a:buNone/>
            </a:pPr>
            <a:r>
              <a:rPr lang="en-US" sz="1400" b="1" dirty="0" smtClean="0"/>
              <a:t>Tools </a:t>
            </a:r>
            <a:r>
              <a:rPr lang="en-US" sz="1400" b="1" dirty="0" smtClean="0"/>
              <a:t>Used</a:t>
            </a:r>
          </a:p>
          <a:p>
            <a:r>
              <a:rPr lang="en-US" sz="1400" dirty="0" smtClean="0"/>
              <a:t>Python for ETL </a:t>
            </a:r>
          </a:p>
          <a:p>
            <a:r>
              <a:rPr lang="en-US" sz="1400" dirty="0" err="1" smtClean="0"/>
              <a:t>SQLite</a:t>
            </a:r>
            <a:r>
              <a:rPr lang="en-US" sz="1400" dirty="0" smtClean="0"/>
              <a:t> for storage </a:t>
            </a:r>
          </a:p>
          <a:p>
            <a:r>
              <a:rPr lang="en-US" sz="1400" dirty="0" err="1" smtClean="0"/>
              <a:t>Jupyter</a:t>
            </a:r>
            <a:r>
              <a:rPr lang="en-US" sz="1400" dirty="0" smtClean="0"/>
              <a:t> Notebook for analysis </a:t>
            </a:r>
          </a:p>
          <a:p>
            <a:r>
              <a:rPr lang="en-US" sz="1400" dirty="0" smtClean="0"/>
              <a:t>Power BI for visualization</a:t>
            </a:r>
          </a:p>
          <a:p>
            <a:pPr>
              <a:buNone/>
            </a:pPr>
            <a:endParaRPr lang="en-US" sz="1400" dirty="0"/>
          </a:p>
        </p:txBody>
      </p:sp>
      <p:pic>
        <p:nvPicPr>
          <p:cNvPr id="5" name="Picture 4" descr="Screenshot 2026-06-12 15302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340768"/>
            <a:ext cx="3226139" cy="3308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7467600" cy="864096"/>
          </a:xfrm>
        </p:spPr>
        <p:txBody>
          <a:bodyPr/>
          <a:lstStyle/>
          <a:p>
            <a:r>
              <a:rPr lang="en-US" dirty="0" smtClean="0"/>
              <a:t>Key EDA Insights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7467600" cy="5349208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Industry folios increased from 13.26 Cr to 26.12 Cr.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 SIP inflows reached record highs in 2025.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SBI Mutual Fund maintained the highest AUM.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Equity-oriented funds attracted the largest investor participation.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T30 cities contributed the majority of investments.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Male investors represented a larger transaction share.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Small-cap funds delivered higher returns with higher risk.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Monthly SIP contributions showed consistent growth.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Investor participation expanded across multiple age groups.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400" dirty="0" smtClean="0"/>
              <a:t>Category inflows varied significantly across market cycles</a:t>
            </a:r>
            <a:r>
              <a:rPr lang="en-US" sz="2000" dirty="0" smtClean="0"/>
              <a:t>.</a:t>
            </a:r>
            <a:endParaRPr lang="en-US" dirty="0"/>
          </a:p>
        </p:txBody>
      </p:sp>
      <p:pic>
        <p:nvPicPr>
          <p:cNvPr id="7" name="Picture 6" descr="Screenshot 2026-06-10 23295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4509120"/>
            <a:ext cx="2304256" cy="1944216"/>
          </a:xfrm>
          <a:prstGeom prst="rect">
            <a:avLst/>
          </a:prstGeom>
        </p:spPr>
      </p:pic>
      <p:pic>
        <p:nvPicPr>
          <p:cNvPr id="8" name="Picture 7" descr="Screenshot 2026-06-10 23300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4437113"/>
            <a:ext cx="4580649" cy="2016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en-US" sz="1800" b="1" dirty="0" smtClean="0"/>
              <a:t>Metrics Calculated</a:t>
            </a:r>
          </a:p>
          <a:p>
            <a:r>
              <a:rPr lang="en-US" sz="1400" dirty="0" smtClean="0"/>
              <a:t>CAGR </a:t>
            </a:r>
          </a:p>
          <a:p>
            <a:r>
              <a:rPr lang="en-US" sz="1400" dirty="0" smtClean="0"/>
              <a:t>Sharpe Ratio </a:t>
            </a:r>
          </a:p>
          <a:p>
            <a:r>
              <a:rPr lang="en-US" sz="1400" dirty="0" err="1" smtClean="0"/>
              <a:t>Sortino</a:t>
            </a:r>
            <a:r>
              <a:rPr lang="en-US" sz="1400" dirty="0" smtClean="0"/>
              <a:t> Ratio </a:t>
            </a:r>
          </a:p>
          <a:p>
            <a:r>
              <a:rPr lang="en-US" sz="1400" dirty="0" smtClean="0"/>
              <a:t>Alpha </a:t>
            </a:r>
          </a:p>
          <a:p>
            <a:r>
              <a:rPr lang="en-US" sz="1400" dirty="0" smtClean="0"/>
              <a:t>Beta </a:t>
            </a:r>
          </a:p>
          <a:p>
            <a:r>
              <a:rPr lang="en-US" sz="1400" dirty="0" smtClean="0"/>
              <a:t>Maximum Drawdown </a:t>
            </a:r>
          </a:p>
          <a:p>
            <a:r>
              <a:rPr lang="en-US" sz="1400" dirty="0" smtClean="0"/>
              <a:t>Fund Score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r>
              <a:rPr lang="en-US" sz="1800" b="1" dirty="0" smtClean="0"/>
              <a:t>Outcome</a:t>
            </a:r>
          </a:p>
          <a:p>
            <a:r>
              <a:rPr lang="en-US" sz="1400" dirty="0" smtClean="0"/>
              <a:t>A comprehensive scorecard was developed to rank mutual funds based on return, risk, alpha, expenses, and drawdown performance</a:t>
            </a:r>
            <a:r>
              <a:rPr lang="en-US" sz="1800" dirty="0" smtClean="0"/>
              <a:t>.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r>
              <a:rPr lang="en-US" sz="1800" b="1" dirty="0" smtClean="0"/>
              <a:t>Analysis Performed</a:t>
            </a:r>
          </a:p>
          <a:p>
            <a:r>
              <a:rPr lang="en-US" sz="1400" dirty="0" smtClean="0"/>
              <a:t>Daily return calculation </a:t>
            </a:r>
          </a:p>
          <a:p>
            <a:r>
              <a:rPr lang="en-US" sz="1400" dirty="0" smtClean="0"/>
              <a:t>Risk-adjusted performance evaluation </a:t>
            </a:r>
          </a:p>
          <a:p>
            <a:r>
              <a:rPr lang="en-US" sz="1400" dirty="0" smtClean="0"/>
              <a:t>Benchmark comparison </a:t>
            </a:r>
          </a:p>
          <a:p>
            <a:r>
              <a:rPr lang="en-US" sz="1400" dirty="0" smtClean="0"/>
              <a:t>Fund ranking system</a:t>
            </a:r>
          </a:p>
          <a:p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  <p:pic>
        <p:nvPicPr>
          <p:cNvPr id="4" name="Picture 3" descr="Screenshot 2026-06-10 23320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3789040"/>
            <a:ext cx="3673159" cy="2491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/>
              <a:t>Risk Analytics</a:t>
            </a:r>
          </a:p>
          <a:p>
            <a:pPr lvl="1"/>
            <a:r>
              <a:rPr lang="en-US" sz="1400" dirty="0" smtClean="0"/>
              <a:t>Historical </a:t>
            </a:r>
            <a:r>
              <a:rPr lang="en-US" sz="1400" dirty="0" err="1" smtClean="0"/>
              <a:t>VaR</a:t>
            </a:r>
            <a:r>
              <a:rPr lang="en-US" sz="1400" dirty="0" smtClean="0"/>
              <a:t> (95%) </a:t>
            </a:r>
          </a:p>
          <a:p>
            <a:pPr lvl="1"/>
            <a:r>
              <a:rPr lang="en-US" sz="1400" dirty="0" smtClean="0"/>
              <a:t>Conditional </a:t>
            </a:r>
            <a:r>
              <a:rPr lang="en-US" sz="1400" dirty="0" err="1" smtClean="0"/>
              <a:t>VaR</a:t>
            </a:r>
            <a:r>
              <a:rPr lang="en-US" sz="1400" dirty="0" smtClean="0"/>
              <a:t> (</a:t>
            </a:r>
            <a:r>
              <a:rPr lang="en-US" sz="1400" dirty="0" err="1" smtClean="0"/>
              <a:t>CVaR</a:t>
            </a:r>
            <a:r>
              <a:rPr lang="en-US" sz="1400" dirty="0" smtClean="0"/>
              <a:t>) </a:t>
            </a:r>
          </a:p>
          <a:p>
            <a:pPr lvl="1"/>
            <a:r>
              <a:rPr lang="en-US" sz="1400" dirty="0" smtClean="0"/>
              <a:t>Rolling 90-Day Sharpe Ratio </a:t>
            </a:r>
          </a:p>
          <a:p>
            <a:pPr lvl="1"/>
            <a:endParaRPr lang="en-US" sz="1400" dirty="0" smtClean="0"/>
          </a:p>
          <a:p>
            <a:pPr>
              <a:buNone/>
            </a:pPr>
            <a:r>
              <a:rPr lang="en-US" sz="1800" b="1" dirty="0" smtClean="0"/>
              <a:t>Investor Analytics</a:t>
            </a:r>
          </a:p>
          <a:p>
            <a:pPr lvl="1"/>
            <a:r>
              <a:rPr lang="en-US" sz="1400" dirty="0" smtClean="0"/>
              <a:t>Cohort Analysis </a:t>
            </a:r>
          </a:p>
          <a:p>
            <a:pPr lvl="1"/>
            <a:r>
              <a:rPr lang="en-US" sz="1400" dirty="0" smtClean="0"/>
              <a:t>SIP Continuity Analysis </a:t>
            </a:r>
          </a:p>
          <a:p>
            <a:pPr lvl="1"/>
            <a:r>
              <a:rPr lang="en-US" sz="1400" dirty="0" smtClean="0"/>
              <a:t>At-Risk Investor Detection </a:t>
            </a:r>
          </a:p>
          <a:p>
            <a:pPr lvl="1"/>
            <a:endParaRPr lang="en-US" sz="1400" dirty="0" smtClean="0"/>
          </a:p>
          <a:p>
            <a:pPr>
              <a:buNone/>
            </a:pPr>
            <a:r>
              <a:rPr lang="en-US" sz="1800" b="1" dirty="0" smtClean="0"/>
              <a:t>Portfolio Analytics</a:t>
            </a:r>
          </a:p>
          <a:p>
            <a:pPr lvl="1"/>
            <a:r>
              <a:rPr lang="en-US" sz="1400" dirty="0" smtClean="0"/>
              <a:t>Sector Concentration (HHI) </a:t>
            </a:r>
          </a:p>
          <a:p>
            <a:pPr lvl="1"/>
            <a:r>
              <a:rPr lang="en-US" sz="1400" dirty="0" smtClean="0"/>
              <a:t>Fund Recommendation Engine</a:t>
            </a:r>
          </a:p>
          <a:p>
            <a:pPr lvl="1"/>
            <a:endParaRPr lang="en-US" sz="1400" dirty="0" smtClean="0"/>
          </a:p>
          <a:p>
            <a:pPr>
              <a:buNone/>
            </a:pPr>
            <a:r>
              <a:rPr lang="en-US" sz="1800" b="1" dirty="0" smtClean="0"/>
              <a:t>Key Insight</a:t>
            </a:r>
          </a:p>
          <a:p>
            <a:r>
              <a:rPr lang="en-US" sz="1600" dirty="0" smtClean="0"/>
              <a:t>Small Cap funds generated higher returns but carried significantly higher downside risk.</a:t>
            </a:r>
          </a:p>
          <a:p>
            <a:pPr>
              <a:buNone/>
            </a:pPr>
            <a:endParaRPr lang="en-US" sz="1800" dirty="0"/>
          </a:p>
        </p:txBody>
      </p:sp>
      <p:pic>
        <p:nvPicPr>
          <p:cNvPr id="6" name="Picture 5" descr="Screenshot 2026-06-12 14375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67944" y="1988840"/>
            <a:ext cx="4320480" cy="2956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620688"/>
          </a:xfrm>
        </p:spPr>
        <p:txBody>
          <a:bodyPr/>
          <a:lstStyle/>
          <a:p>
            <a:r>
              <a:rPr lang="en-US" dirty="0" smtClean="0"/>
              <a:t>Interactive Dashboard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"/>
          </p:nvPr>
        </p:nvSpPr>
        <p:spPr>
          <a:xfrm>
            <a:off x="457200" y="692696"/>
            <a:ext cx="7715200" cy="5781256"/>
          </a:xfrm>
        </p:spPr>
        <p:txBody>
          <a:bodyPr numCol="2">
            <a:normAutofit/>
          </a:bodyPr>
          <a:lstStyle/>
          <a:p>
            <a:pPr>
              <a:buNone/>
            </a:pPr>
            <a:r>
              <a:rPr lang="en-US" sz="1100" b="1" dirty="0" smtClean="0"/>
              <a:t>Page 1 – Industry Overview</a:t>
            </a:r>
          </a:p>
          <a:p>
            <a:r>
              <a:rPr lang="en-US" sz="1100" dirty="0" smtClean="0"/>
              <a:t>AUM </a:t>
            </a:r>
          </a:p>
          <a:p>
            <a:r>
              <a:rPr lang="en-US" sz="1100" dirty="0" smtClean="0"/>
              <a:t>SIP Inflows </a:t>
            </a:r>
          </a:p>
          <a:p>
            <a:r>
              <a:rPr lang="en-US" sz="1100" dirty="0" smtClean="0"/>
              <a:t>Folios </a:t>
            </a:r>
          </a:p>
          <a:p>
            <a:r>
              <a:rPr lang="en-US" sz="1100" dirty="0" smtClean="0"/>
              <a:t>Industry Trends </a:t>
            </a:r>
          </a:p>
          <a:p>
            <a:pPr>
              <a:buNone/>
            </a:pPr>
            <a:r>
              <a:rPr lang="en-US" sz="1100" b="1" dirty="0" smtClean="0"/>
              <a:t>Page 2 – Fund Performance</a:t>
            </a:r>
          </a:p>
          <a:p>
            <a:r>
              <a:rPr lang="en-US" sz="1100" dirty="0" smtClean="0"/>
              <a:t>Return </a:t>
            </a:r>
            <a:r>
              <a:rPr lang="en-US" sz="1100" dirty="0" err="1" smtClean="0"/>
              <a:t>vs</a:t>
            </a:r>
            <a:r>
              <a:rPr lang="en-US" sz="1100" dirty="0" smtClean="0"/>
              <a:t> Risk </a:t>
            </a:r>
          </a:p>
          <a:p>
            <a:r>
              <a:rPr lang="en-US" sz="1100" dirty="0" smtClean="0"/>
              <a:t>Fund Scorecard </a:t>
            </a:r>
          </a:p>
          <a:p>
            <a:r>
              <a:rPr lang="en-US" sz="1100" dirty="0" smtClean="0"/>
              <a:t>Alpha-Beta Analysis </a:t>
            </a:r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pPr>
              <a:buNone/>
            </a:pPr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r>
              <a:rPr lang="en-US" sz="1100" b="1" dirty="0" smtClean="0"/>
              <a:t>Page 3 – Investor Analytics</a:t>
            </a:r>
          </a:p>
          <a:p>
            <a:r>
              <a:rPr lang="en-US" sz="1100" dirty="0" smtClean="0"/>
              <a:t>State Analysis </a:t>
            </a:r>
          </a:p>
          <a:p>
            <a:r>
              <a:rPr lang="en-US" sz="1100" dirty="0" smtClean="0"/>
              <a:t>Age Group Analysis </a:t>
            </a:r>
          </a:p>
          <a:p>
            <a:r>
              <a:rPr lang="en-US" sz="1100" dirty="0" smtClean="0"/>
              <a:t>Transaction Distribution </a:t>
            </a:r>
          </a:p>
          <a:p>
            <a:pPr>
              <a:buNone/>
            </a:pPr>
            <a:r>
              <a:rPr lang="en-US" sz="1100" b="1" dirty="0" smtClean="0"/>
              <a:t>Page 4 – SIP &amp; Market Trends</a:t>
            </a:r>
          </a:p>
          <a:p>
            <a:r>
              <a:rPr lang="en-US" sz="1100" dirty="0" smtClean="0"/>
              <a:t>SIP Growth </a:t>
            </a:r>
          </a:p>
          <a:p>
            <a:r>
              <a:rPr lang="en-US" sz="1100" dirty="0" smtClean="0"/>
              <a:t>Category Inflows </a:t>
            </a:r>
          </a:p>
          <a:p>
            <a:r>
              <a:rPr lang="en-US" sz="1100" dirty="0" smtClean="0"/>
              <a:t>Market Trends</a:t>
            </a:r>
          </a:p>
          <a:p>
            <a:endParaRPr lang="en-US" sz="1100" dirty="0"/>
          </a:p>
        </p:txBody>
      </p:sp>
      <p:pic>
        <p:nvPicPr>
          <p:cNvPr id="11" name="Picture 10" descr="pag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552" y="3068960"/>
            <a:ext cx="3312368" cy="1584176"/>
          </a:xfrm>
          <a:prstGeom prst="rect">
            <a:avLst/>
          </a:prstGeom>
        </p:spPr>
      </p:pic>
      <p:pic>
        <p:nvPicPr>
          <p:cNvPr id="12" name="Picture 11" descr="page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544" y="4869160"/>
            <a:ext cx="3384376" cy="1728192"/>
          </a:xfrm>
          <a:prstGeom prst="rect">
            <a:avLst/>
          </a:prstGeom>
        </p:spPr>
      </p:pic>
      <p:pic>
        <p:nvPicPr>
          <p:cNvPr id="13" name="Picture 12" descr="page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5976" y="3068959"/>
            <a:ext cx="3456384" cy="1656185"/>
          </a:xfrm>
          <a:prstGeom prst="rect">
            <a:avLst/>
          </a:prstGeom>
        </p:spPr>
      </p:pic>
      <p:pic>
        <p:nvPicPr>
          <p:cNvPr id="14" name="Picture 13" descr="page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55976" y="4869160"/>
            <a:ext cx="3456384" cy="17281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Future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800" b="1" dirty="0" smtClean="0"/>
              <a:t>Conclusion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Successfully developed an end-to-end mutual fund analytics solution.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Performed ETL, EDA, risk analysis, and performance evaluation.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Built a fully interactive Power BI dashboard.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Generated actionable investment insights using advanced analytics.</a:t>
            </a:r>
          </a:p>
          <a:p>
            <a:endParaRPr lang="en-US" sz="1600" dirty="0" smtClean="0"/>
          </a:p>
          <a:p>
            <a:pPr>
              <a:buNone/>
            </a:pPr>
            <a:r>
              <a:rPr lang="en-US" sz="1800" b="1" dirty="0" smtClean="0"/>
              <a:t>Future Scope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Live NAV integration using APIs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Automated daily data refresh </a:t>
            </a:r>
          </a:p>
          <a:p>
            <a:pPr>
              <a:lnSpc>
                <a:spcPct val="150000"/>
              </a:lnSpc>
            </a:pPr>
            <a:r>
              <a:rPr lang="en-US" sz="1600" dirty="0" err="1" smtClean="0"/>
              <a:t>Streamlit</a:t>
            </a:r>
            <a:r>
              <a:rPr lang="en-US" sz="1600" dirty="0" smtClean="0"/>
              <a:t> web application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Machine Learning-based fund recommendation 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Portfolio optimization using Modern Portfolio Theory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you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90</TotalTime>
  <Words>374</Words>
  <Application>Microsoft Office PowerPoint</Application>
  <PresentationFormat>On-screen Show (4:3)</PresentationFormat>
  <Paragraphs>128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Oriel</vt:lpstr>
      <vt:lpstr>Mutual Fund Analytics Project</vt:lpstr>
      <vt:lpstr>Project Overview</vt:lpstr>
      <vt:lpstr>Data Pipeline</vt:lpstr>
      <vt:lpstr>Key EDA Insights</vt:lpstr>
      <vt:lpstr>Performance Analytics</vt:lpstr>
      <vt:lpstr>Advanced Analytics</vt:lpstr>
      <vt:lpstr>Interactive Dashboard</vt:lpstr>
      <vt:lpstr>Conclusion &amp; Future Scope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Project</dc:title>
  <dc:creator>Sunayana Saman</dc:creator>
  <cp:lastModifiedBy>Sunayana Saman</cp:lastModifiedBy>
  <cp:revision>12</cp:revision>
  <dcterms:created xsi:type="dcterms:W3CDTF">2026-06-10T17:23:53Z</dcterms:created>
  <dcterms:modified xsi:type="dcterms:W3CDTF">2026-06-12T14:31:06Z</dcterms:modified>
</cp:coreProperties>
</file>